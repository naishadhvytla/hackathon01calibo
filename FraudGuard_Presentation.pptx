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1c4858c-539d-f371-da0f-5f75129108f1}">
          <p14:sldIdLst>
            <p14:sldId id="256"/>
            <p14:sldId id="257"/>
          </p14:sldIdLst>
        </p14:section>
        <p14:section name="The problem" id="{19b8cd72-7e48-dd74-6c43-81c8a28b80b7}">
          <p14:sldIdLst>
            <p14:sldId id="258"/>
            <p14:sldId id="259"/>
          </p14:sldIdLst>
        </p14:section>
        <p14:section name="Data" id="{619a3dc6-3393-1611-aa29-57f1e05d924a}">
          <p14:sldIdLst>
            <p14:sldId id="260"/>
            <p14:sldId id="261"/>
            <p14:sldId id="262"/>
            <p14:sldId id="263"/>
            <p14:sldId id="264"/>
            <p14:sldId id="265"/>
          </p14:sldIdLst>
        </p14:section>
        <p14:section name="Models" id="{1c513499-d49f-bfea-e673-6adc79b39474}">
          <p14:sldIdLst>
            <p14:sldId id="266"/>
            <p14:sldId id="267"/>
            <p14:sldId id="268"/>
            <p14:sldId id="269"/>
            <p14:sldId id="270"/>
            <p14:sldId id="271"/>
          </p14:sldIdLst>
        </p14:section>
        <p14:section name="Decision" id="{81d54a88-5a23-4c06-7230-9297c54dc55a}">
          <p14:sldIdLst>
            <p14:sldId id="272"/>
            <p14:sldId id="273"/>
            <p14:sldId id="274"/>
            <p14:sldId id="275"/>
            <p14:sldId id="276"/>
            <p14:sldId id="277"/>
          </p14:sldIdLst>
        </p14:section>
        <p14:section name="Action" id="{63da8e19-8a18-2870-7def-733f68b16dfc}">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5B6B85"/>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Do-nothing</c:v>
                  </c:pt>
                  <c:pt idx="1">
                    <c:v>Model @ 0.5</c:v>
                  </c:pt>
                  <c:pt idx="2">
                    <c:v>Model @ cost threshold</c:v>
                  </c:pt>
                </c:lvl>
              </c:multiLvlStrCache>
            </c:multiLvlStrRef>
          </c:cat>
          <c:val>
            <c:numRef>
              <c:f>Sheet1!$B$2:$B$4</c:f>
              <c:numCache>
                <c:formatCode>General</c:formatCode>
                <c:ptCount val="3"/>
                <c:pt idx="0">
                  <c:v>0.9986959433264019</c:v>
                </c:pt>
                <c:pt idx="1">
                  <c:v>0.9995241955380115</c:v>
                </c:pt>
                <c:pt idx="2">
                  <c:v>0.9993303492757198</c:v>
                </c:pt>
              </c:numCache>
            </c:numRef>
          </c:val>
        </c:ser>
        <c:ser>
          <c:idx val="1"/>
          <c:order val="1"/>
          <c:tx>
            <c:strRef>
              <c:f>Sheet1!$C$1</c:f>
              <c:strCache>
                <c:ptCount val="1"/>
                <c:pt idx="0">
                  <c:v>Recall (fraud caught)</c:v>
                </c:pt>
              </c:strCache>
            </c:strRef>
          </c:tx>
          <c:spPr>
            <a:solidFill>
              <a:srgbClr val="D8A21B"/>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Do-nothing</c:v>
                  </c:pt>
                  <c:pt idx="1">
                    <c:v>Model @ 0.5</c:v>
                  </c:pt>
                  <c:pt idx="2">
                    <c:v>Model @ cost threshold</c:v>
                  </c:pt>
                </c:lvl>
              </c:multiLvlStrCache>
            </c:multiLvlStrRef>
          </c:cat>
          <c:val>
            <c:numRef>
              <c:f>Sheet1!$C$2:$C$4</c:f>
              <c:numCache>
                <c:formatCode>General</c:formatCode>
                <c:ptCount val="3"/>
                <c:pt idx="0">
                  <c:v>0</c:v>
                </c:pt>
                <c:pt idx="1">
                  <c:v>0.7567567567567568</c:v>
                </c:pt>
                <c:pt idx="2">
                  <c:v>0.7837837837837838</c:v>
                </c:pt>
              </c:numCache>
            </c:numRef>
          </c:val>
        </c:ser>
        <c:ser>
          <c:idx val="2"/>
          <c:order val="2"/>
          <c:tx>
            <c:strRef>
              <c:f>Sheet1!$D$1</c:f>
              <c:strCache>
                <c:ptCount val="1"/>
                <c:pt idx="0">
                  <c:v>Precision</c:v>
                </c:pt>
              </c:strCache>
            </c:strRef>
          </c:tx>
          <c:spPr>
            <a:solidFill>
              <a:srgbClr val="C9D5E8"/>
            </a:solidFill>
            <a:effectLst/>
          </c:spPr>
          <c:invertIfNegative val="0"/>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Do-nothing</c:v>
                  </c:pt>
                  <c:pt idx="1">
                    <c:v>Model @ 0.5</c:v>
                  </c:pt>
                  <c:pt idx="2">
                    <c:v>Model @ cost threshold</c:v>
                  </c:pt>
                </c:lvl>
              </c:multiLvlStrCache>
            </c:multiLvlStrRef>
          </c:cat>
          <c:val>
            <c:numRef>
              <c:f>Sheet1!$D$2:$D$4</c:f>
              <c:numCache>
                <c:formatCode>General</c:formatCode>
                <c:ptCount val="3"/>
                <c:pt idx="0">
                  <c:v>0</c:v>
                </c:pt>
                <c:pt idx="1">
                  <c:v>0.8615384615384616</c:v>
                </c:pt>
                <c:pt idx="2">
                  <c:v>0.725</c:v>
                </c:pt>
              </c:numCache>
            </c:numRef>
          </c:val>
        </c:ser>
        <c:dLbls>
          <c:numFmt formatCode="0.00%" sourceLinked="0"/>
          <c:txPr>
            <a:bodyPr/>
            <a:lstStyle/>
            <a:p>
              <a:pPr>
                <a:defRPr b="0" i="0" strike="noStrike" sz="12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2A3F66"/>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9D5E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FFFF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Validation PR-AUC by model family and imbalance handling</a:t>
            </a:r>
          </a:p>
        </c:rich>
      </c:tx>
      <c:layout/>
      <c:overlay val="0"/>
    </c:title>
    <c:autoTitleDeleted val="0"/>
    <c:plotArea>
      <c:layout/>
      <c:barChart>
        <c:barDir val="col"/>
        <c:grouping val="clustered"/>
        <c:varyColors val="0"/>
        <c:ser>
          <c:idx val="0"/>
          <c:order val="0"/>
          <c:tx>
            <c:strRef>
              <c:f>Sheet1!$B$1</c:f>
              <c:strCache>
                <c:ptCount val="1"/>
                <c:pt idx="0">
                  <c:v>none</c:v>
                </c:pt>
              </c:strCache>
            </c:strRef>
          </c:tx>
          <c:spPr>
            <a:solidFill>
              <a:srgbClr val="C9D5E8"/>
            </a:solidFill>
            <a:effectLst/>
          </c:spPr>
          <c:invertIfNegative val="0"/>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cat>
            <c:multiLvlStrRef>
              <c:f>Sheet1!$A$2:$A$5</c:f>
              <c:multiLvlStrCache>
                <c:ptCount val="4"/>
                <c:lvl>
                  <c:pt idx="0">
                    <c:v>LogReg</c:v>
                  </c:pt>
                  <c:pt idx="1">
                    <c:v>Random Forest</c:v>
                  </c:pt>
                  <c:pt idx="2">
                    <c:v>XGBoost</c:v>
                  </c:pt>
                  <c:pt idx="3">
                    <c:v>LightGBM</c:v>
                  </c:pt>
                </c:lvl>
              </c:multiLvlStrCache>
            </c:multiLvlStrRef>
          </c:cat>
          <c:val>
            <c:numRef>
              <c:f>Sheet1!$B$2:$B$5</c:f>
              <c:numCache>
                <c:formatCode>General</c:formatCode>
                <c:ptCount val="4"/>
                <c:pt idx="0">
                  <c:v>0.6081</c:v>
                </c:pt>
                <c:pt idx="1">
                  <c:v>0.76938</c:v>
                </c:pt>
                <c:pt idx="2">
                  <c:v>0.77546</c:v>
                </c:pt>
                <c:pt idx="3">
                  <c:v>0.7696</c:v>
                </c:pt>
              </c:numCache>
            </c:numRef>
          </c:val>
        </c:ser>
        <c:ser>
          <c:idx val="1"/>
          <c:order val="1"/>
          <c:tx>
            <c:strRef>
              <c:f>Sheet1!$C$1</c:f>
              <c:strCache>
                <c:ptCount val="1"/>
                <c:pt idx="0">
                  <c:v>class weights</c:v>
                </c:pt>
              </c:strCache>
            </c:strRef>
          </c:tx>
          <c:spPr>
            <a:solidFill>
              <a:srgbClr val="14284B"/>
            </a:solidFill>
            <a:effectLst/>
          </c:spPr>
          <c:invertIfNegative val="0"/>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cat>
            <c:multiLvlStrRef>
              <c:f>Sheet1!$A$2:$A$5</c:f>
              <c:multiLvlStrCache>
                <c:ptCount val="4"/>
                <c:lvl>
                  <c:pt idx="0">
                    <c:v>LogReg</c:v>
                  </c:pt>
                  <c:pt idx="1">
                    <c:v>Random Forest</c:v>
                  </c:pt>
                  <c:pt idx="2">
                    <c:v>XGBoost</c:v>
                  </c:pt>
                  <c:pt idx="3">
                    <c:v>LightGBM</c:v>
                  </c:pt>
                </c:lvl>
              </c:multiLvlStrCache>
            </c:multiLvlStrRef>
          </c:cat>
          <c:val>
            <c:numRef>
              <c:f>Sheet1!$C$2:$C$5</c:f>
              <c:numCache>
                <c:formatCode>General</c:formatCode>
                <c:ptCount val="4"/>
                <c:pt idx="0">
                  <c:v>0.75307</c:v>
                </c:pt>
                <c:pt idx="1">
                  <c:v>0.76644</c:v>
                </c:pt>
                <c:pt idx="2">
                  <c:v>0.78288</c:v>
                </c:pt>
                <c:pt idx="3">
                  <c:v>0.77114</c:v>
                </c:pt>
              </c:numCache>
            </c:numRef>
          </c:val>
        </c:ser>
        <c:ser>
          <c:idx val="2"/>
          <c:order val="2"/>
          <c:tx>
            <c:strRef>
              <c:f>Sheet1!$D$1</c:f>
              <c:strCache>
                <c:ptCount val="1"/>
                <c:pt idx="0">
                  <c:v>SMOTE (in-pipeline)</c:v>
                </c:pt>
              </c:strCache>
            </c:strRef>
          </c:tx>
          <c:spPr>
            <a:solidFill>
              <a:srgbClr val="D8A21B"/>
            </a:solidFill>
            <a:effectLst/>
          </c:spPr>
          <c:invertIfNegative val="0"/>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cat>
            <c:multiLvlStrRef>
              <c:f>Sheet1!$A$2:$A$5</c:f>
              <c:multiLvlStrCache>
                <c:ptCount val="4"/>
                <c:lvl>
                  <c:pt idx="0">
                    <c:v>LogReg</c:v>
                  </c:pt>
                  <c:pt idx="1">
                    <c:v>Random Forest</c:v>
                  </c:pt>
                  <c:pt idx="2">
                    <c:v>XGBoost</c:v>
                  </c:pt>
                  <c:pt idx="3">
                    <c:v>LightGBM</c:v>
                  </c:pt>
                </c:lvl>
              </c:multiLvlStrCache>
            </c:multiLvlStrRef>
          </c:cat>
          <c:val>
            <c:numRef>
              <c:f>Sheet1!$D$2:$D$5</c:f>
              <c:numCache>
                <c:formatCode>General</c:formatCode>
                <c:ptCount val="4"/>
                <c:pt idx="0">
                  <c:v>0.70469</c:v>
                </c:pt>
                <c:pt idx="1">
                  <c:v>0.76445</c:v>
                </c:pt>
                <c:pt idx="2">
                  <c:v>0.76312</c:v>
                </c:pt>
                <c:pt idx="3">
                  <c:v>0.77301</c:v>
                </c:pt>
              </c:numCache>
            </c:numRef>
          </c:val>
        </c:ser>
        <c:dLbls>
          <c:numFmt formatCode="0.000" sourceLinked="0"/>
          <c:txPr>
            <a:bodyPr/>
            <a:lstStyle/>
            <a:p>
              <a:pPr>
                <a:defRPr b="0" i="0" strike="noStrike" sz="1000" u="none">
                  <a:solidFill>
                    <a:srgbClr val="2E3B5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3B52"/>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D8DE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E3B5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Fraud in top 1% of scores (gold = no labels used)</a:t>
            </a:r>
          </a:p>
        </c:rich>
      </c:tx>
      <c:layout/>
      <c:overlay val="0"/>
    </c:title>
    <c:autoTitleDeleted val="0"/>
    <c:plotArea>
      <c:layout/>
      <c:barChart>
        <c:barDir val="bar"/>
        <c:grouping val="clustered"/>
        <c:varyColors val="0"/>
        <c:ser>
          <c:idx val="0"/>
          <c:order val="0"/>
          <c:tx>
            <c:strRef>
              <c:f>Sheet1!$B$1</c:f>
              <c:strCache>
                <c:ptCount val="1"/>
                <c:pt idx="0">
                  <c:v>Fraud in top 1% of scores</c:v>
                </c:pt>
              </c:strCache>
            </c:strRef>
          </c:tx>
          <c:spPr>
            <a:solidFill>
              <a:srgbClr val="D8A21B"/>
            </a:solidFill>
            <a:effectLst/>
          </c:spPr>
          <c:invertIfNegative val="0"/>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dPt>
            <c:idx val="0"/>
            <c:invertIfNegative val="0"/>
            <c:bubble3D val="0"/>
            <c:spPr>
              <a:solidFill>
                <a:srgbClr val="D8A21B"/>
              </a:solidFill>
              <a:effectLst/>
            </c:spPr>
          </c:dPt>
          <c:dPt>
            <c:idx val="1"/>
            <c:invertIfNegative val="0"/>
            <c:bubble3D val="0"/>
            <c:spPr>
              <a:solidFill>
                <a:srgbClr val="D8A21B"/>
              </a:solidFill>
              <a:effectLst/>
            </c:spPr>
          </c:dPt>
          <c:dPt>
            <c:idx val="2"/>
            <c:invertIfNegative val="0"/>
            <c:bubble3D val="0"/>
            <c:spPr>
              <a:solidFill>
                <a:srgbClr val="D8A21B"/>
              </a:solidFill>
              <a:effectLst/>
            </c:spPr>
          </c:dPt>
          <c:dPt>
            <c:idx val="3"/>
            <c:invertIfNegative val="0"/>
            <c:bubble3D val="0"/>
            <c:spPr>
              <a:solidFill>
                <a:srgbClr val="D8A21B"/>
              </a:solidFill>
              <a:effectLst/>
            </c:spPr>
          </c:dPt>
          <c:dPt>
            <c:idx val="4"/>
            <c:invertIfNegative val="0"/>
            <c:bubble3D val="0"/>
            <c:spPr>
              <a:solidFill>
                <a:srgbClr val="D8A21B"/>
              </a:solidFill>
              <a:effectLst/>
            </c:spPr>
          </c:dPt>
          <c:dPt>
            <c:idx val="5"/>
            <c:invertIfNegative val="0"/>
            <c:bubble3D val="0"/>
            <c:spPr>
              <a:solidFill>
                <a:srgbClr val="14284B"/>
              </a:solidFill>
              <a:effectLst/>
            </c:spPr>
          </c:dPt>
          <c:cat>
            <c:multiLvlStrRef>
              <c:f>Sheet1!$A$2:$A$7</c:f>
              <c:multiLvlStrCache>
                <c:ptCount val="6"/>
                <c:lvl>
                  <c:pt idx="0">
                    <c:v>COPOD</c:v>
                  </c:pt>
                  <c:pt idx="1">
                    <c:v>ECOD</c:v>
                  </c:pt>
                  <c:pt idx="2">
                    <c:v>Isolation Forest</c:v>
                  </c:pt>
                  <c:pt idx="3">
                    <c:v>LOF (novelty)</c:v>
                  </c:pt>
                  <c:pt idx="4">
                    <c:v>Autoencoder</c:v>
                  </c:pt>
                  <c:pt idx="5">
                    <c:v>CatBoost (supervised)</c:v>
                  </c:pt>
                </c:lvl>
              </c:multiLvlStrCache>
            </c:multiLvlStrRef>
          </c:cat>
          <c:val>
            <c:numRef>
              <c:f>Sheet1!$B$2:$B$7</c:f>
              <c:numCache>
                <c:formatCode>General</c:formatCode>
                <c:ptCount val="6"/>
                <c:pt idx="0">
                  <c:v>0.5946</c:v>
                </c:pt>
                <c:pt idx="1">
                  <c:v>0.5811</c:v>
                </c:pt>
                <c:pt idx="2">
                  <c:v>0.527</c:v>
                </c:pt>
                <c:pt idx="3">
                  <c:v>0.2973</c:v>
                </c:pt>
                <c:pt idx="4">
                  <c:v>0.4054</c:v>
                </c:pt>
                <c:pt idx="5">
                  <c:v>0.8513513513513513</c:v>
                </c:pt>
              </c:numCache>
            </c:numRef>
          </c:val>
        </c:ser>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E3B52"/>
                </a:solidFill>
                <a:latin typeface="+mn-lt"/>
              </a:defRPr>
            </a:pPr>
            <a:endParaRPr lang="en-US"/>
          </a:p>
        </c:txPr>
        <c:crossAx val="2094734552"/>
        <c:crosses val="autoZero"/>
        <c:auto val="1"/>
        <c:lblAlgn val="ctr"/>
        <c:noMultiLvlLbl val="1"/>
      </c:catAx>
      <c:valAx>
        <c:axId val="2094734552"/>
        <c:scaling>
          <c:orientation val="minMax"/>
          <c:max val="1"/>
        </c:scaling>
        <c:delete val="0"/>
        <c:axPos val="b"/>
        <c:majorGridlines>
          <c:spPr>
            <a:ln w="6350" cap="flat">
              <a:solidFill>
                <a:srgbClr val="D8DEE7"/>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Expected cost on the test period (observed counts × assumed ₹)</a:t>
            </a:r>
          </a:p>
        </c:rich>
      </c:tx>
      <c:layout/>
      <c:overlay val="0"/>
    </c:title>
    <c:autoTitleDeleted val="0"/>
    <c:plotArea>
      <c:layout/>
      <c:barChart>
        <c:barDir val="col"/>
        <c:grouping val="clustered"/>
        <c:varyColors val="0"/>
        <c:ser>
          <c:idx val="0"/>
          <c:order val="0"/>
          <c:tx>
            <c:strRef>
              <c:f>Sheet1!$B$1</c:f>
              <c:strCache>
                <c:ptCount val="1"/>
                <c:pt idx="0">
                  <c:v>Expected cost on test</c:v>
                </c:pt>
              </c:strCache>
            </c:strRef>
          </c:tx>
          <c:spPr>
            <a:solidFill>
              <a:srgbClr val="5B6B85"/>
            </a:solidFill>
            <a:effectLst/>
          </c:spPr>
          <c:invertIfNegative val="0"/>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dPt>
            <c:idx val="0"/>
            <c:invertIfNegative val="0"/>
            <c:bubble3D val="0"/>
            <c:spPr>
              <a:solidFill>
                <a:srgbClr val="5B6B85"/>
              </a:solidFill>
              <a:effectLst/>
            </c:spPr>
          </c:dPt>
          <c:dPt>
            <c:idx val="1"/>
            <c:invertIfNegative val="0"/>
            <c:bubble3D val="0"/>
            <c:spPr>
              <a:solidFill>
                <a:srgbClr val="C9D5E8"/>
              </a:solidFill>
              <a:effectLst/>
            </c:spPr>
          </c:dPt>
          <c:dPt>
            <c:idx val="2"/>
            <c:invertIfNegative val="0"/>
            <c:bubble3D val="0"/>
            <c:spPr>
              <a:solidFill>
                <a:srgbClr val="C9D5E8"/>
              </a:solidFill>
              <a:effectLst/>
            </c:spPr>
          </c:dPt>
          <c:dPt>
            <c:idx val="3"/>
            <c:invertIfNegative val="0"/>
            <c:bubble3D val="0"/>
            <c:spPr>
              <a:solidFill>
                <a:srgbClr val="1E7A52"/>
              </a:solidFill>
              <a:effectLst/>
            </c:spPr>
          </c:dPt>
          <c:cat>
            <c:multiLvlStrRef>
              <c:f>Sheet1!$A$2:$A$5</c:f>
              <c:multiLvlStrCache>
                <c:ptCount val="4"/>
                <c:lvl>
                  <c:pt idx="0">
                    <c:v>No model (approve all)</c:v>
                  </c:pt>
                  <c:pt idx="1">
                    <c:v>Model @ 0.5</c:v>
                  </c:pt>
                  <c:pt idx="2">
                    <c:v>Cost threshold</c:v>
                  </c:pt>
                  <c:pt idx="3">
                    <c:v>Three-band rule</c:v>
                  </c:pt>
                </c:lvl>
              </c:multiLvlStrCache>
            </c:multiLvlStrRef>
          </c:cat>
          <c:val>
            <c:numRef>
              <c:f>Sheet1!$B$2:$B$5</c:f>
              <c:numCache>
                <c:formatCode>General</c:formatCode>
                <c:ptCount val="4"/>
                <c:pt idx="0">
                  <c:v>370000</c:v>
                </c:pt>
                <c:pt idx="1">
                  <c:v>92700</c:v>
                </c:pt>
                <c:pt idx="2">
                  <c:v>86600</c:v>
                </c:pt>
                <c:pt idx="3">
                  <c:v>82675</c:v>
                </c:pt>
              </c:numCache>
            </c:numRef>
          </c:val>
        </c:ser>
        <c:dLbls>
          <c:numFmt formatCode="₹#,##0" sourceLinked="0"/>
          <c:txPr>
            <a:bodyPr/>
            <a:lstStyle/>
            <a:p>
              <a:pPr>
                <a:defRPr b="0" i="0" strike="noStrike" sz="1200" u="none">
                  <a:solidFill>
                    <a:srgbClr val="2E3B5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3B5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DE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problem: every payment needs a decision in a fraction of a second. FraudGuard scores it and turns the score into approve, step-up OTP or block, with thresholds set by rupee cost. Headline: on the held-out test period, expected cost fell 78% against approving everything, and only 0.33% of customers felt any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in one breath. Each member owns two problem statements end to end and presents them; the presenter's name is at the bottom right of every slide. About 10 minutes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fraud loss against customer friction. We put a rupee price on each outcome: ₹5,000 for missed fraud, ₹300 for a wrongly blocked customer, ₹15 for an OTP challenge. The ₹15 is mostly genuine customers who abandon the payment (about 5% × ₹300), not the SMS. No official costs were given, so these are stated assumptions; slide 19 shows the decision barely moves when they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wow-factor slide. Fraud is 0.13% of the test period, so labelling everything genuine is 99.87% accurate and catches nothing. Accuracy can't even rank our own two settings: the cost threshold is less accurate than 0.5 but ₹6,100 cheaper. Hence recall, precision, PR-AUC and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told us to inspect the UPI file before choosing it, so we ran both datasets through the same code. Credit card: the Kaggle ULB benchmark with anonymised PCA features. UPI: the organiser's simulated file, which turns out to have no learnable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the brief lists, for both datasets, with the treatment. Two things to stress: zero amounts are kept because they're a card-testing signal, not an error; and UPI's status column is excluded because a blocked fraud would show up as FAILED, so it leaks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test came back at chance. The interesting one: the model that won on validation had p = 0.016, but on test p = 0.78. That's what picking the best of 22 models on noise looks like. So no UPI model is deployable; our recommendation 2 is about fixing UPI data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patterns with 95% confidence intervals: card testing at tiny and zero amounts, a night window, and bursts. These are associations, not causes; say that explicitly. They feed recommendation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payments per hour in grey, frauds in orange, night window shaded. Bottom: four anonymised components separate fraud almost on their own (KS statistic up to 0.84); the model uses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Judges look for leakage, so stress the guard-rails: no resampling before the split, nothing tuned on test, a time-aware split. The label-free detector runs alongside as a watch-list.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Dots are test PR-AUC with 95% bootstrap intervals; bars are validation, which drove the choice. The top models overlap on test, so the choice rests on cost and operability. The ensemble's members were fixed in advance to avoid selection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'does SMOTE beat class weights?' from the brief. Not here. For logistic regression class weights win clearly; for tree ensembles the three are within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went beyond the brief's LR, RF, XGBoost: transformers, focal loss, Bayesian tuning, a hybrid and an ensemble. None beat CatBoost on validation, which matches the literature, so the simple model wins and we can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PS5. Detectors fit on training features only; labels used afterwards. Also tested: ECOD, Isolation Forest, autoencoder, LOF and DBSCAN, which flags 0.6% as noise and catches 6 of 12 frauds in its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expected cost on validation at every threshold; the minimum is 0.119, the square is the 0.5 default. Right: the test confusion matrix in rupees. We chose on validation and scored test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defends the assumed costs. Top: missed-fraud cost against block cost. Bottom: OTP cost against how much fraud OTP stops. The block decision never moves, and the app recomputes everything live for any official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PS7. Two thresholds found by an exact search over validation scores, minimising approve + OTP + block cost, then frozen. Read the table: 60 blocks, 54 of them fraud; 125 OTPs, 119 genuine customers challenged; 14 frauds slip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four policies on the same test period. Right: the bridge from approve-everything, where blocking does most of the work. The per-million figure is a projection and is labelled as one, as the brief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agrees with the EDA, so the model learned real behaviour, not an artefact. Be upfront that V1–V28 are anonymised by the bank, so we can't name them in business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three, each linked to evidence. One has the largest observed value. Two unlocks UPI at all. Three is operational and must be A/B tested, because the patterns are associations.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 at calibofraudguard.netlify.app (sign in first). Load a test fraud: BLOCK with the reasons. Load a genuine: APPROVE. Edit V14 down and watch the risk climb. Open Policy and type a different missed-fraud cost to show the thresholds re-optimise. Switch to UPI mode to show the no-signal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analysis on honesty: what the data can and can't support, and what a real rollout would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brief's 'from → to' table in one line and open for questions. Likely questions: why not UPI (slide 8), what if costs are wrong (slide 19), does SMOTE help (slide 14), how was leakage prevented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8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7782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886200"/>
            <a:ext cx="8778240" cy="109728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428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rtlCol="0"/>
          <a:lstStyle>
            <a:lvl1pPr indent="0" marL="0">
              <a:buNone/>
              <a:defRPr lang="en-US" sz="1800" dirty="0">
                <a:solidFill>
                  <a:schemeClr val="accent6"/>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FraudGuard · Group 8 · Matrix Mechanics</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alibofraudguard.netlify.app/" TargetMode="External"/><Relationship Id="rId2" Type="http://schemas.openxmlformats.org/officeDocument/2006/relationships/hyperlink" Target="https://github.com/naishadhvytla/hackathon01calibo" TargetMode="External"/><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21-1.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4" Type="http://schemas.openxmlformats.org/officeDocument/2006/relationships/hyperlink" Target="https://calibofraudguard.netlify.app/" TargetMode="Externa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5" Type="http://schemas.openxmlformats.org/officeDocument/2006/relationships/slideLayout" Target="../slideLayouts/slideLayout4.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calibofraudguard.netlify.app/" TargetMode="Externa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77824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FraudGuard</a:t>
            </a:r>
            <a:endParaRPr lang="en-US" sz="4400" dirty="0"/>
          </a:p>
        </p:txBody>
      </p:sp>
      <p:sp>
        <p:nvSpPr>
          <p:cNvPr id="3" name="Text 0"/>
          <p:cNvSpPr/>
          <p:nvPr>
            <p:ph idx="101" type="body" hasCustomPrompt="1"/>
          </p:nvPr>
        </p:nvSpPr>
        <p:spPr>
          <a:xfrm>
            <a:off x="548640" y="3886200"/>
            <a:ext cx="8778240" cy="109728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Every payment gets a fraud score; the score becomes approve, step-up OTP or block, with the two cut-offs set by rupee cost</a:t>
            </a:r>
            <a:endParaRPr lang="en-US" sz="1800" dirty="0"/>
          </a:p>
        </p:txBody>
      </p:sp>
      <p:sp>
        <p:nvSpPr>
          <p:cNvPr id="4" name="Text 2"/>
          <p:cNvSpPr txBox="1"/>
          <p:nvPr/>
        </p:nvSpPr>
        <p:spPr>
          <a:xfrm>
            <a:off x="548640" y="548640"/>
            <a:ext cx="9144000" cy="365760"/>
          </a:xfrm>
          <a:prstGeom prst="rect">
            <a:avLst/>
          </a:prstGeom>
          <a:noFill/>
          <a:ln/>
        </p:spPr>
        <p:txBody>
          <a:bodyPr wrap="square" lIns="0" tIns="0" rIns="0" bIns="0" rtlCol="0" anchor="t"/>
          <a:lstStyle/>
          <a:p>
            <a:pPr indent="0" marL="0">
              <a:buNone/>
            </a:pPr>
            <a:r>
              <a:rPr lang="en-US" sz="1400" dirty="0">
                <a:solidFill>
                  <a:schemeClr val="accent1"/>
                </a:solidFill>
                <a:latin typeface="Calibri" pitchFamily="34" charset="0"/>
                <a:ea typeface="Calibri" pitchFamily="34" charset="-122"/>
                <a:cs typeface="Calibri" pitchFamily="34" charset="-120"/>
              </a:rPr>
              <a:t>KLU + Path-3 · ML-02 · Real-time UPI / digital payment fraud detection</a:t>
            </a:r>
            <a:endParaRPr lang="en-US" sz="1400" dirty="0"/>
          </a:p>
        </p:txBody>
      </p:sp>
      <p:sp>
        <p:nvSpPr>
          <p:cNvPr id="5" name="anim_001"/>
          <p:cNvSpPr txBox="1"/>
          <p:nvPr/>
        </p:nvSpPr>
        <p:spPr>
          <a:xfrm>
            <a:off x="548640" y="5257800"/>
            <a:ext cx="2834640" cy="10058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78%</a:t>
            </a:r>
            <a:endParaRPr lang="en-US" sz="1600" dirty="0"/>
          </a:p>
          <a:p>
            <a:pPr indent="0" marL="0">
              <a:buNone/>
            </a:pPr>
            <a:r>
              <a:rPr lang="en-US" sz="1300" dirty="0">
                <a:solidFill>
                  <a:schemeClr val="accent6"/>
                </a:solidFill>
                <a:latin typeface="Calibri" pitchFamily="34" charset="0"/>
                <a:ea typeface="Calibri" pitchFamily="34" charset="-122"/>
                <a:cs typeface="Calibri" pitchFamily="34" charset="-120"/>
              </a:rPr>
              <a:t>lower expected fraud cost on unseen data</a:t>
            </a:r>
            <a:endParaRPr lang="en-US" sz="1600" dirty="0"/>
          </a:p>
        </p:txBody>
      </p:sp>
      <p:sp>
        <p:nvSpPr>
          <p:cNvPr id="6" name="anim_002"/>
          <p:cNvSpPr txBox="1"/>
          <p:nvPr/>
        </p:nvSpPr>
        <p:spPr>
          <a:xfrm>
            <a:off x="3657600" y="5257800"/>
            <a:ext cx="2834640" cy="10058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0.33%</a:t>
            </a:r>
            <a:endParaRPr lang="en-US" sz="1600" dirty="0"/>
          </a:p>
          <a:p>
            <a:pPr indent="0" marL="0">
              <a:buNone/>
            </a:pPr>
            <a:r>
              <a:rPr lang="en-US" sz="1300" dirty="0">
                <a:solidFill>
                  <a:schemeClr val="accent6"/>
                </a:solidFill>
                <a:latin typeface="Calibri" pitchFamily="34" charset="0"/>
                <a:ea typeface="Calibri" pitchFamily="34" charset="-122"/>
                <a:cs typeface="Calibri" pitchFamily="34" charset="-120"/>
              </a:rPr>
              <a:t>of customers see any friction</a:t>
            </a:r>
            <a:endParaRPr lang="en-US" sz="1600" dirty="0"/>
          </a:p>
        </p:txBody>
      </p:sp>
      <p:sp>
        <p:nvSpPr>
          <p:cNvPr id="7" name="anim_003"/>
          <p:cNvSpPr txBox="1"/>
          <p:nvPr/>
        </p:nvSpPr>
        <p:spPr>
          <a:xfrm>
            <a:off x="6766560" y="5257800"/>
            <a:ext cx="2834640" cy="100584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60 / 74</a:t>
            </a:r>
            <a:endParaRPr lang="en-US" sz="1600" dirty="0"/>
          </a:p>
          <a:p>
            <a:pPr indent="0" marL="0">
              <a:buNone/>
            </a:pPr>
            <a:r>
              <a:rPr lang="en-US" sz="1300" dirty="0">
                <a:solidFill>
                  <a:schemeClr val="accent6"/>
                </a:solidFill>
                <a:latin typeface="Calibri" pitchFamily="34" charset="0"/>
                <a:ea typeface="Calibri" pitchFamily="34" charset="-122"/>
                <a:cs typeface="Calibri" pitchFamily="34" charset="-120"/>
              </a:rPr>
              <a:t>test frauds stopped or challenged</a:t>
            </a:r>
            <a:endParaRPr lang="en-US" sz="1600" dirty="0"/>
          </a:p>
        </p:txBody>
      </p:sp>
      <p:sp>
        <p:nvSpPr>
          <p:cNvPr id="8" name="Text 6"/>
          <p:cNvSpPr txBox="1"/>
          <p:nvPr/>
        </p:nvSpPr>
        <p:spPr>
          <a:xfrm>
            <a:off x="7071055" y="548640"/>
            <a:ext cx="4572000" cy="64008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Group 8 · Matrix Mechanics</a:t>
            </a:r>
            <a:endParaRPr lang="en-US" sz="1400" dirty="0"/>
          </a:p>
          <a:p>
            <a:pPr algn="r" indent="0" marL="0">
              <a:buNone/>
            </a:pPr>
            <a:r>
              <a:rPr lang="en-US" sz="1400" dirty="0">
                <a:solidFill>
                  <a:schemeClr val="accent6"/>
                </a:solidFill>
                <a:latin typeface="Calibri" pitchFamily="34" charset="0"/>
                <a:ea typeface="Calibri" pitchFamily="34" charset="-122"/>
                <a:cs typeface="Calibri" pitchFamily="34" charset="-120"/>
              </a:rPr>
              <a:t>31 October 2026</a:t>
            </a:r>
            <a:endParaRPr lang="en-US" sz="1400" dirty="0"/>
          </a:p>
        </p:txBody>
      </p:sp>
      <p:sp>
        <p:nvSpPr>
          <p:cNvPr id="9" name="Text 7"/>
          <p:cNvSpPr txBox="1"/>
          <p:nvPr/>
        </p:nvSpPr>
        <p:spPr>
          <a:xfrm>
            <a:off x="548640" y="1051560"/>
            <a:ext cx="77724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 Varshitha · M. Kumara Swamy · V. Naishadh · M. Suman Srinivas</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Group 8 · Matrix Mechanics: who owns what</a:t>
            </a:r>
            <a:endParaRPr lang="en-US" sz="3000" dirty="0"/>
          </a:p>
        </p:txBody>
      </p:sp>
      <p:graphicFrame>
        <p:nvGraphicFramePr>
          <p:cNvPr id="3" name="anim_004"/>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94560"/>
                <a:gridCol w="3566160"/>
                <a:gridCol w="4325112"/>
                <a:gridCol w="100584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Member</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Problem statements owned</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Presents</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Time</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N. Varshitha</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PS1 Data quality &amp; reliability</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PS2 Fraud lens &amp; the accuracy trap</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3–8: the problem, the accuracy trap, datasets, cleaning, UPI signal check</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2½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M. Kumara Swamy</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PS3 Fraud patterns (EDA)</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PS4 Supervised learning</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9–15: where fraud lives, the pipeline, 22 models, weights vs SMOTE</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2½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V. Naishadh</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PS5 Anomaly detection</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PS6 Cost-based threshold</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16–19: label-free detectors, the ₹ threshold, cost sensitivity</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2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868680">
                <a:tc>
                  <a:txBody>
                    <a:bodyPr/>
                    <a:lstStyle/>
                    <a:p>
                      <a:pPr indent="0" marL="0">
                        <a:buNone/>
                      </a:pPr>
                      <a:r>
                        <a:rPr lang="en-US" sz="1500" b="1" dirty="0">
                          <a:solidFill>
                            <a:srgbClr val="2E3B52"/>
                          </a:solidFill>
                          <a:latin typeface="Calibri" pitchFamily="34" charset="0"/>
                          <a:ea typeface="Calibri" pitchFamily="34" charset="-122"/>
                          <a:cs typeface="Calibri" pitchFamily="34" charset="-120"/>
                        </a:rPr>
                        <a:t>M. Suman Srinivas</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PS7 Risk-score decision rule</a:t>
                      </a:r>
                      <a:endParaRPr lang="en-US" sz="1500" dirty="0">
                        <a:latin typeface="Calibri" charset="0"/>
                        <a:ea typeface="Calibri" charset="0"/>
                        <a:cs typeface="Calibri" charset="0"/>
                      </a:endParaRPr>
                    </a:p>
                    <a:p>
                      <a:pPr indent="0" marL="0">
                        <a:buNone/>
                      </a:pPr>
                      <a:r>
                        <a:rPr lang="en-US" sz="1500" dirty="0">
                          <a:solidFill>
                            <a:srgbClr val="2E3B52"/>
                          </a:solidFill>
                          <a:latin typeface="Calibri" pitchFamily="34" charset="0"/>
                          <a:ea typeface="Calibri" pitchFamily="34" charset="-122"/>
                          <a:cs typeface="Calibri" pitchFamily="34" charset="-120"/>
                        </a:rPr>
                        <a:t>PS8 Selection, explanation &amp; actions</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Slides 20–27: three bands, ₹ saved, SHAP, three actions, live demo</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500" dirty="0">
                          <a:solidFill>
                            <a:srgbClr val="2E3B52"/>
                          </a:solidFill>
                          <a:latin typeface="Calibri" pitchFamily="34" charset="0"/>
                          <a:ea typeface="Calibri" pitchFamily="34" charset="-122"/>
                          <a:cs typeface="Calibri" pitchFamily="34" charset="-120"/>
                        </a:rPr>
                        <a:t>≈ 3 min</a:t>
                      </a:r>
                      <a:endParaRPr lang="en-US" sz="15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sp>
        <p:nvSpPr>
          <p:cNvPr id="4" name="anim_005"/>
          <p:cNvSpPr txBox="1"/>
          <p:nvPr/>
        </p:nvSpPr>
        <p:spPr>
          <a:xfrm>
            <a:off x="548640" y="5852160"/>
            <a:ext cx="11094415" cy="36576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Live app  </a:t>
            </a:r>
            <a:pPr indent="0" marL="0">
              <a:buNone/>
            </a:pPr>
            <a:r>
              <a:rPr lang="en-US" sz="1500" u="sng" dirty="0">
                <a:solidFill>
                  <a:srgbClr val="14284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calibofraudguard.netlify.app</a:t>
            </a:r>
            <a:pPr indent="0" marL="0">
              <a:buNone/>
            </a:pPr>
            <a:r>
              <a:rPr lang="en-US" sz="1500" b="1" dirty="0">
                <a:solidFill>
                  <a:schemeClr val="tx1"/>
                </a:solidFill>
                <a:latin typeface="Calibri" pitchFamily="34" charset="0"/>
                <a:ea typeface="Calibri" pitchFamily="34" charset="-122"/>
                <a:cs typeface="Calibri" pitchFamily="34" charset="-120"/>
              </a:rPr>
              <a:t>      Code  </a:t>
            </a:r>
            <a:pPr indent="0" marL="0">
              <a:buNone/>
            </a:pPr>
            <a:r>
              <a:rPr lang="en-US" sz="1500" u="sng" dirty="0">
                <a:solidFill>
                  <a:srgbClr val="1428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github.com/naishadhvytla/hackathon01calibo</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Each payment needs a decision in milliseconds, and both mistakes cost money</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PS2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sp>
        <p:nvSpPr>
          <p:cNvPr id="4" name="anim_006"/>
          <p:cNvSpPr/>
          <p:nvPr/>
        </p:nvSpPr>
        <p:spPr>
          <a:xfrm>
            <a:off x="548640" y="1554480"/>
            <a:ext cx="3474720" cy="1737360"/>
          </a:xfrm>
          <a:prstGeom prst="roundRect">
            <a:avLst>
              <a:gd name="adj" fmla="val 4211"/>
            </a:avLst>
          </a:prstGeom>
          <a:solidFill>
            <a:srgbClr val="F2F4F7"/>
          </a:solidFill>
          <a:ln w="12700">
            <a:solidFill>
              <a:srgbClr val="F2F4F7"/>
            </a:solidFill>
            <a:prstDash val="solid"/>
          </a:ln>
        </p:spPr>
      </p:sp>
      <p:sp>
        <p:nvSpPr>
          <p:cNvPr id="5" name="Text 3"/>
          <p:cNvSpPr txBox="1"/>
          <p:nvPr/>
        </p:nvSpPr>
        <p:spPr>
          <a:xfrm>
            <a:off x="822960" y="1737360"/>
            <a:ext cx="3017520" cy="1645920"/>
          </a:xfrm>
          <a:prstGeom prst="rect">
            <a:avLst/>
          </a:prstGeom>
          <a:noFill/>
          <a:ln/>
        </p:spPr>
        <p:txBody>
          <a:bodyPr wrap="square" lIns="0" tIns="0" rIns="0" bIns="0" rtlCol="0" anchor="t"/>
          <a:lstStyle/>
          <a:p>
            <a:pPr indent="0" marL="0">
              <a:buNone/>
            </a:pPr>
            <a:r>
              <a:rPr lang="en-US" sz="3600" b="1" dirty="0">
                <a:solidFill>
                  <a:srgbClr val="B03A22"/>
                </a:solidFill>
                <a:latin typeface="Cambria" pitchFamily="34" charset="0"/>
                <a:ea typeface="Cambria" pitchFamily="34" charset="-122"/>
                <a:cs typeface="Cambria" pitchFamily="34" charset="-120"/>
              </a:rPr>
              <a:t>₹5,000</a:t>
            </a:r>
            <a:endParaRPr lang="en-US" sz="1600" dirty="0"/>
          </a:p>
          <a:p>
            <a:pPr indent="0" marL="0">
              <a:buNone/>
            </a:pPr>
            <a:r>
              <a:rPr lang="en-US" sz="1700" b="1" dirty="0">
                <a:solidFill>
                  <a:schemeClr val="tx1"/>
                </a:solidFill>
                <a:latin typeface="Calibri" pitchFamily="34" charset="0"/>
                <a:ea typeface="Calibri" pitchFamily="34" charset="-122"/>
                <a:cs typeface="Calibri" pitchFamily="34" charset="-120"/>
              </a:rPr>
              <a:t>Fraud approved</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Loss, chargeback, investigation</a:t>
            </a:r>
            <a:endParaRPr lang="en-US" sz="1600" dirty="0"/>
          </a:p>
        </p:txBody>
      </p:sp>
      <p:sp>
        <p:nvSpPr>
          <p:cNvPr id="6" name="anim_007"/>
          <p:cNvSpPr/>
          <p:nvPr/>
        </p:nvSpPr>
        <p:spPr>
          <a:xfrm>
            <a:off x="4297680" y="1554480"/>
            <a:ext cx="3474720" cy="1737360"/>
          </a:xfrm>
          <a:prstGeom prst="roundRect">
            <a:avLst>
              <a:gd name="adj" fmla="val 4211"/>
            </a:avLst>
          </a:prstGeom>
          <a:solidFill>
            <a:srgbClr val="F2F4F7"/>
          </a:solidFill>
          <a:ln w="12700">
            <a:solidFill>
              <a:srgbClr val="F2F4F7"/>
            </a:solidFill>
            <a:prstDash val="solid"/>
          </a:ln>
        </p:spPr>
      </p:sp>
      <p:sp>
        <p:nvSpPr>
          <p:cNvPr id="7" name="Text 5"/>
          <p:cNvSpPr txBox="1"/>
          <p:nvPr/>
        </p:nvSpPr>
        <p:spPr>
          <a:xfrm>
            <a:off x="4572000" y="1737360"/>
            <a:ext cx="3017520" cy="1645920"/>
          </a:xfrm>
          <a:prstGeom prst="rect">
            <a:avLst/>
          </a:prstGeom>
          <a:noFill/>
          <a:ln/>
        </p:spPr>
        <p:txBody>
          <a:bodyPr wrap="square" lIns="0" tIns="0" rIns="0" bIns="0" rtlCol="0" anchor="t"/>
          <a:lstStyle/>
          <a:p>
            <a:pPr indent="0" marL="0">
              <a:buNone/>
            </a:pPr>
            <a:r>
              <a:rPr lang="en-US" sz="3600" b="1" dirty="0">
                <a:solidFill>
                  <a:srgbClr val="2E3B52"/>
                </a:solidFill>
                <a:latin typeface="Cambria" pitchFamily="34" charset="0"/>
                <a:ea typeface="Cambria" pitchFamily="34" charset="-122"/>
                <a:cs typeface="Cambria" pitchFamily="34" charset="-120"/>
              </a:rPr>
              <a:t>₹300</a:t>
            </a:r>
            <a:endParaRPr lang="en-US" sz="1600" dirty="0"/>
          </a:p>
          <a:p>
            <a:pPr indent="0" marL="0">
              <a:buNone/>
            </a:pPr>
            <a:r>
              <a:rPr lang="en-US" sz="1700" b="1" dirty="0">
                <a:solidFill>
                  <a:schemeClr val="tx1"/>
                </a:solidFill>
                <a:latin typeface="Calibri" pitchFamily="34" charset="0"/>
                <a:ea typeface="Calibri" pitchFamily="34" charset="-122"/>
                <a:cs typeface="Calibri" pitchFamily="34" charset="-120"/>
              </a:rPr>
              <a:t>Genuine payment blocked</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Friction, support call, churn risk</a:t>
            </a:r>
            <a:endParaRPr lang="en-US" sz="1600" dirty="0"/>
          </a:p>
        </p:txBody>
      </p:sp>
      <p:sp>
        <p:nvSpPr>
          <p:cNvPr id="8" name="anim_008"/>
          <p:cNvSpPr/>
          <p:nvPr/>
        </p:nvSpPr>
        <p:spPr>
          <a:xfrm>
            <a:off x="8046720" y="1554480"/>
            <a:ext cx="3474720" cy="1737360"/>
          </a:xfrm>
          <a:prstGeom prst="roundRect">
            <a:avLst>
              <a:gd name="adj" fmla="val 4211"/>
            </a:avLst>
          </a:prstGeom>
          <a:solidFill>
            <a:srgbClr val="F2F4F7"/>
          </a:solidFill>
          <a:ln w="12700">
            <a:solidFill>
              <a:srgbClr val="F2F4F7"/>
            </a:solidFill>
            <a:prstDash val="solid"/>
          </a:ln>
        </p:spPr>
      </p:sp>
      <p:sp>
        <p:nvSpPr>
          <p:cNvPr id="9" name="Text 7"/>
          <p:cNvSpPr txBox="1"/>
          <p:nvPr/>
        </p:nvSpPr>
        <p:spPr>
          <a:xfrm>
            <a:off x="8321040" y="1737360"/>
            <a:ext cx="3017520" cy="1645920"/>
          </a:xfrm>
          <a:prstGeom prst="rect">
            <a:avLst/>
          </a:prstGeom>
          <a:noFill/>
          <a:ln/>
        </p:spPr>
        <p:txBody>
          <a:bodyPr wrap="square" lIns="0" tIns="0" rIns="0" bIns="0" rtlCol="0" anchor="t"/>
          <a:lstStyle/>
          <a:p>
            <a:pPr indent="0" marL="0">
              <a:buNone/>
            </a:pPr>
            <a:r>
              <a:rPr lang="en-US" sz="3600" b="1" dirty="0">
                <a:solidFill>
                  <a:srgbClr val="9A6B00"/>
                </a:solidFill>
                <a:latin typeface="Cambria" pitchFamily="34" charset="0"/>
                <a:ea typeface="Cambria" pitchFamily="34" charset="-122"/>
                <a:cs typeface="Cambria" pitchFamily="34" charset="-120"/>
              </a:rPr>
              <a:t>₹15</a:t>
            </a:r>
            <a:endParaRPr lang="en-US" sz="1600" dirty="0"/>
          </a:p>
          <a:p>
            <a:pPr indent="0" marL="0">
              <a:buNone/>
            </a:pPr>
            <a:r>
              <a:rPr lang="en-US" sz="1700" b="1" dirty="0">
                <a:solidFill>
                  <a:schemeClr val="tx1"/>
                </a:solidFill>
                <a:latin typeface="Calibri" pitchFamily="34" charset="0"/>
                <a:ea typeface="Calibri" pitchFamily="34" charset="-122"/>
                <a:cs typeface="Calibri" pitchFamily="34" charset="-120"/>
              </a:rPr>
              <a:t>Step-up OTP challenge</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Mostly genuine drop-off (≈5% × ₹300); SMS &lt; ₹1</a:t>
            </a:r>
            <a:endParaRPr lang="en-US" sz="1600" dirty="0"/>
          </a:p>
        </p:txBody>
      </p:sp>
      <p:sp>
        <p:nvSpPr>
          <p:cNvPr id="10" name="Shape 8"/>
          <p:cNvSpPr/>
          <p:nvPr/>
        </p:nvSpPr>
        <p:spPr>
          <a:xfrm>
            <a:off x="548640" y="3840480"/>
            <a:ext cx="11094415" cy="1143000"/>
          </a:xfrm>
          <a:prstGeom prst="roundRect">
            <a:avLst>
              <a:gd name="adj" fmla="val 6400"/>
            </a:avLst>
          </a:prstGeom>
          <a:solidFill>
            <a:srgbClr val="EAF0F8"/>
          </a:solidFill>
          <a:ln w="12700">
            <a:solidFill>
              <a:srgbClr val="EAF0F8"/>
            </a:solidFill>
            <a:prstDash val="solid"/>
          </a:ln>
        </p:spPr>
      </p:sp>
      <p:sp>
        <p:nvSpPr>
          <p:cNvPr id="11" name="Text 9"/>
          <p:cNvSpPr txBox="1"/>
          <p:nvPr/>
        </p:nvSpPr>
        <p:spPr>
          <a:xfrm>
            <a:off x="822960" y="3977640"/>
            <a:ext cx="10545775"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What is step-up OTP?  </a:t>
            </a:r>
            <a:pPr indent="0" marL="0">
              <a:buNone/>
            </a:pPr>
            <a:r>
              <a:rPr lang="en-US" sz="1500" dirty="0">
                <a:solidFill>
                  <a:schemeClr val="tx2"/>
                </a:solidFill>
                <a:latin typeface="Calibri" pitchFamily="34" charset="0"/>
                <a:ea typeface="Calibri" pitchFamily="34" charset="-122"/>
                <a:cs typeface="Calibri" pitchFamily="34" charset="-120"/>
              </a:rPr>
              <a:t>Extra proof of identity asked only when a payment looks risky. The real owner types the one-time password and the payment goes through; a fraudster with stolen details usually cannot, because they don't have the phone. It does not stop scams where the victim is talked into typing the OTP, so we assume it stops 70% of fraud.</a:t>
            </a:r>
            <a:endParaRPr lang="en-US" sz="1500" dirty="0"/>
          </a:p>
        </p:txBody>
      </p:sp>
      <p:sp>
        <p:nvSpPr>
          <p:cNvPr id="12" name="Text 10"/>
          <p:cNvSpPr txBox="1"/>
          <p:nvPr/>
        </p:nvSpPr>
        <p:spPr>
          <a:xfrm>
            <a:off x="548640" y="5257800"/>
            <a:ext cx="11094415"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Expected cost = </a:t>
            </a:r>
            <a:pPr indent="0" marL="0">
              <a:buNone/>
            </a:pPr>
            <a:r>
              <a:rPr lang="en-US" sz="1600" dirty="0">
                <a:solidFill>
                  <a:schemeClr val="tx1"/>
                </a:solidFill>
                <a:latin typeface="Calibri" pitchFamily="34" charset="0"/>
                <a:ea typeface="Calibri" pitchFamily="34" charset="-122"/>
                <a:cs typeface="Calibri" pitchFamily="34" charset="-120"/>
              </a:rPr>
              <a:t>missed fraud × ₹X  +  genuine blocked × ₹Y  +  OTP challenges × ₹Z  +  fraud that passes OTP × ₹X</a:t>
            </a:r>
            <a:endParaRPr lang="en-US" sz="1600" dirty="0"/>
          </a:p>
        </p:txBody>
      </p:sp>
      <p:sp>
        <p:nvSpPr>
          <p:cNvPr id="13" name="Text 11"/>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No official ₹ figures were published, so these are stated assumptions. The notebook and the app's Policy page recompute every threshold for any values.</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84B"/>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rgbClr val="FFFFFF"/>
                </a:solidFill>
                <a:latin typeface="Cambria" pitchFamily="34" charset="0"/>
                <a:ea typeface="Cambria" pitchFamily="34" charset="-122"/>
                <a:cs typeface="Cambria" pitchFamily="34" charset="-120"/>
              </a:rPr>
              <a:t>The accuracy trap: 99.87% accurate, zero fraud caught</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C9D5E8"/>
                </a:solidFill>
                <a:latin typeface="Calibri" pitchFamily="34" charset="0"/>
                <a:ea typeface="Calibri" pitchFamily="34" charset="-122"/>
                <a:cs typeface="Calibri" pitchFamily="34" charset="-120"/>
              </a:rPr>
              <a:t>PS2  ·  </a:t>
            </a:r>
            <a:pPr algn="r" indent="0" marL="0">
              <a:buNone/>
            </a:pPr>
            <a:r>
              <a:rPr lang="en-US" sz="1100" b="1" dirty="0">
                <a:solidFill>
                  <a:srgbClr val="FFFFFF"/>
                </a:solidFill>
                <a:latin typeface="Calibri" pitchFamily="34" charset="0"/>
                <a:ea typeface="Calibri" pitchFamily="34" charset="-122"/>
                <a:cs typeface="Calibri" pitchFamily="34" charset="-120"/>
              </a:rPr>
              <a:t>N. Varshitha</a:t>
            </a:r>
            <a:endParaRPr lang="en-US" sz="1100" dirty="0"/>
          </a:p>
        </p:txBody>
      </p:sp>
      <p:graphicFrame>
        <p:nvGraphicFramePr>
          <p:cNvPr id="4" name="chart_trap" descr=""/>
          <p:cNvGraphicFramePr/>
          <p:nvPr/>
        </p:nvGraphicFramePr>
        <p:xfrm>
          <a:off x="548640" y="137160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5" name="anim_009"/>
          <p:cNvSpPr txBox="1"/>
          <p:nvPr/>
        </p:nvSpPr>
        <p:spPr>
          <a:xfrm>
            <a:off x="7772400" y="1554480"/>
            <a:ext cx="384048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99.87%</a:t>
            </a:r>
            <a:endParaRPr lang="en-US" sz="1600" dirty="0"/>
          </a:p>
          <a:p>
            <a:pPr indent="0" marL="0">
              <a:buNone/>
            </a:pPr>
            <a:r>
              <a:rPr lang="en-US" sz="1400" dirty="0">
                <a:solidFill>
                  <a:srgbClr val="C9D5E8"/>
                </a:solidFill>
                <a:latin typeface="Calibri" pitchFamily="34" charset="0"/>
                <a:ea typeface="Calibri" pitchFamily="34" charset="-122"/>
                <a:cs typeface="Calibri" pitchFamily="34" charset="-120"/>
              </a:rPr>
              <a:t>accuracy of a model that approves everything</a:t>
            </a:r>
            <a:endParaRPr lang="en-US" sz="1600" dirty="0"/>
          </a:p>
        </p:txBody>
      </p:sp>
      <p:sp>
        <p:nvSpPr>
          <p:cNvPr id="6" name="anim_010"/>
          <p:cNvSpPr txBox="1"/>
          <p:nvPr/>
        </p:nvSpPr>
        <p:spPr>
          <a:xfrm>
            <a:off x="7772400" y="3017520"/>
            <a:ext cx="3840480" cy="1280160"/>
          </a:xfrm>
          <a:prstGeom prst="rect">
            <a:avLst/>
          </a:prstGeom>
          <a:noFill/>
          <a:ln/>
        </p:spPr>
        <p:txBody>
          <a:bodyPr wrap="square" lIns="0" tIns="0" rIns="0" bIns="0" rtlCol="0" anchor="t"/>
          <a:lstStyle/>
          <a:p>
            <a:pPr indent="0" marL="0">
              <a:buNone/>
            </a:pPr>
            <a:r>
              <a:rPr lang="en-US" sz="3200" b="1" dirty="0">
                <a:solidFill>
                  <a:srgbClr val="F08A70"/>
                </a:solidFill>
                <a:latin typeface="Cambria" pitchFamily="34" charset="0"/>
                <a:ea typeface="Cambria" pitchFamily="34" charset="-122"/>
                <a:cs typeface="Cambria" pitchFamily="34" charset="-120"/>
              </a:rPr>
              <a:t>0 of 74</a:t>
            </a:r>
            <a:endParaRPr lang="en-US" sz="1600" dirty="0"/>
          </a:p>
          <a:p>
            <a:pPr indent="0" marL="0">
              <a:buNone/>
            </a:pPr>
            <a:r>
              <a:rPr lang="en-US" sz="1400" dirty="0">
                <a:solidFill>
                  <a:srgbClr val="C9D5E8"/>
                </a:solidFill>
                <a:latin typeface="Calibri" pitchFamily="34" charset="0"/>
                <a:ea typeface="Calibri" pitchFamily="34" charset="-122"/>
                <a:cs typeface="Calibri" pitchFamily="34" charset="-120"/>
              </a:rPr>
              <a:t>frauds it catches; ₹3.70 L lost</a:t>
            </a:r>
            <a:endParaRPr lang="en-US" sz="1600" dirty="0"/>
          </a:p>
        </p:txBody>
      </p:sp>
      <p:sp>
        <p:nvSpPr>
          <p:cNvPr id="7" name="anim_011"/>
          <p:cNvSpPr txBox="1"/>
          <p:nvPr/>
        </p:nvSpPr>
        <p:spPr>
          <a:xfrm>
            <a:off x="7772400" y="4480560"/>
            <a:ext cx="3840480" cy="128016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₹6,100</a:t>
            </a:r>
            <a:endParaRPr lang="en-US" sz="1600" dirty="0"/>
          </a:p>
          <a:p>
            <a:pPr indent="0" marL="0">
              <a:buNone/>
            </a:pPr>
            <a:r>
              <a:rPr lang="en-US" sz="1400" dirty="0">
                <a:solidFill>
                  <a:srgbClr val="C9D5E8"/>
                </a:solidFill>
                <a:latin typeface="Calibri" pitchFamily="34" charset="0"/>
                <a:ea typeface="Calibri" pitchFamily="34" charset="-122"/>
                <a:cs typeface="Calibri" pitchFamily="34" charset="-120"/>
              </a:rPr>
              <a:t>saved by the cost threshold, which is less accurate</a:t>
            </a:r>
            <a:endParaRPr lang="en-US" sz="1600" dirty="0"/>
          </a:p>
        </p:txBody>
      </p:sp>
      <p:sp>
        <p:nvSpPr>
          <p:cNvPr id="8" name="Text 5"/>
          <p:cNvSpPr txBox="1"/>
          <p:nvPr/>
        </p:nvSpPr>
        <p:spPr>
          <a:xfrm>
            <a:off x="7772400" y="5806440"/>
            <a:ext cx="3840480" cy="548640"/>
          </a:xfrm>
          <a:prstGeom prst="rect">
            <a:avLst/>
          </a:prstGeom>
          <a:noFill/>
          <a:ln/>
        </p:spPr>
        <p:txBody>
          <a:bodyPr wrap="square" lIns="0" tIns="0" rIns="0" bIns="0" rtlCol="0" anchor="t"/>
          <a:lstStyle/>
          <a:p>
            <a:pPr indent="0" marL="0">
              <a:buNone/>
            </a:pPr>
            <a:r>
              <a:rPr lang="en-US" sz="1300" dirty="0">
                <a:solidFill>
                  <a:srgbClr val="C9D5E8"/>
                </a:solidFill>
                <a:latin typeface="Calibri" pitchFamily="34" charset="0"/>
                <a:ea typeface="Calibri" pitchFamily="34" charset="-122"/>
                <a:cs typeface="Calibri" pitchFamily="34" charset="-120"/>
              </a:rPr>
              <a:t>So we select on PR-AUC and rupee cost; accuracy appears only to make this point.</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Can the data be trusted?</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Two datasets, one pipeline: one carries signal, one does not</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N. Varshitha (PS1–2) and M. Kumara Swamy (PS3)</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Two datasets, run through the identical pipeline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PS1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sp>
        <p:nvSpPr>
          <p:cNvPr id="4" name="anim_012"/>
          <p:cNvSpPr/>
          <p:nvPr/>
        </p:nvSpPr>
        <p:spPr>
          <a:xfrm>
            <a:off x="548640" y="1417320"/>
            <a:ext cx="5394960" cy="4206240"/>
          </a:xfrm>
          <a:prstGeom prst="roundRect">
            <a:avLst>
              <a:gd name="adj" fmla="val 1739"/>
            </a:avLst>
          </a:prstGeom>
          <a:solidFill>
            <a:srgbClr val="F2F4F7"/>
          </a:solidFill>
          <a:ln w="12700">
            <a:solidFill>
              <a:srgbClr val="F2F4F7"/>
            </a:solidFill>
            <a:prstDash val="solid"/>
          </a:ln>
        </p:spPr>
      </p:sp>
      <p:sp>
        <p:nvSpPr>
          <p:cNvPr id="5" name="Text 3"/>
          <p:cNvSpPr txBox="1"/>
          <p:nvPr/>
        </p:nvSpPr>
        <p:spPr>
          <a:xfrm>
            <a:off x="822960" y="1600200"/>
            <a:ext cx="484632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ULB Credit Card Fraud</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Worldline + Machine Learning Group, ULB · Kaggle (mlg-ulb/creditcardfraud)</a:t>
            </a:r>
            <a:endParaRPr lang="en-US" sz="1600" dirty="0"/>
          </a:p>
        </p:txBody>
      </p:sp>
      <p:sp>
        <p:nvSpPr>
          <p:cNvPr id="6" name="Text 4"/>
          <p:cNvSpPr txBox="1"/>
          <p:nvPr/>
        </p:nvSpPr>
        <p:spPr>
          <a:xfrm>
            <a:off x="822960" y="2514600"/>
            <a:ext cx="4846320" cy="301752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Scope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European cardholders, September 2013, 2 days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Size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284,807 payments · 492 frauds (0.172%)</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Columns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Time, Amount (currency not stated), V1–V28, Class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Confidential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V1–V28 are PCA components; original features withheld</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Cleaned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1,081 duplicates dropped → 283,726 rows, 473 frauds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Role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Primary: model, thresholds, actions</a:t>
            </a:r>
            <a:endParaRPr lang="en-US" sz="1500" dirty="0"/>
          </a:p>
        </p:txBody>
      </p:sp>
      <p:sp>
        <p:nvSpPr>
          <p:cNvPr id="7" name="anim_013"/>
          <p:cNvSpPr/>
          <p:nvPr/>
        </p:nvSpPr>
        <p:spPr>
          <a:xfrm>
            <a:off x="6217920" y="1417320"/>
            <a:ext cx="5394960" cy="4206240"/>
          </a:xfrm>
          <a:prstGeom prst="roundRect">
            <a:avLst>
              <a:gd name="adj" fmla="val 1739"/>
            </a:avLst>
          </a:prstGeom>
          <a:solidFill>
            <a:srgbClr val="F2F4F7"/>
          </a:solidFill>
          <a:ln w="12700">
            <a:solidFill>
              <a:srgbClr val="F2F4F7"/>
            </a:solidFill>
            <a:prstDash val="solid"/>
          </a:ln>
        </p:spPr>
      </p:sp>
      <p:sp>
        <p:nvSpPr>
          <p:cNvPr id="8" name="Text 6"/>
          <p:cNvSpPr txBox="1"/>
          <p:nvPr/>
        </p:nvSpPr>
        <p:spPr>
          <a:xfrm>
            <a:off x="6492240" y="1600200"/>
            <a:ext cx="484632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UPI Transactions 2024</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Organiser-supplied, simulated UPI-style file</a:t>
            </a:r>
            <a:endParaRPr lang="en-US" sz="1600" dirty="0"/>
          </a:p>
        </p:txBody>
      </p:sp>
      <p:sp>
        <p:nvSpPr>
          <p:cNvPr id="9" name="Text 7"/>
          <p:cNvSpPr txBox="1"/>
          <p:nvPr/>
        </p:nvSpPr>
        <p:spPr>
          <a:xfrm>
            <a:off x="6492240" y="2514600"/>
            <a:ext cx="4846320" cy="301752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Scope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1 Jan – 30 Dec 2024</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Size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250,000 payments · 480 frauds (0.192%)</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Columns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Type, merchant, amount ₹, ages, state, banks, device, network, status, hour, weekday</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Missing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No sender, receiver or device IDs</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Leakage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transaction_status is known only after the decision → excluded</a:t>
            </a:r>
            <a:endParaRPr lang="en-US" sz="1500" dirty="0"/>
          </a:p>
          <a:p>
            <a:pPr indent="0" marL="0">
              <a:spcAft>
                <a:spcPts val="800"/>
              </a:spcAft>
              <a:buNone/>
            </a:pPr>
            <a:r>
              <a:rPr lang="en-US" sz="1500" b="1" dirty="0">
                <a:solidFill>
                  <a:schemeClr val="tx1"/>
                </a:solidFill>
                <a:latin typeface="Calibri" pitchFamily="34" charset="0"/>
                <a:ea typeface="Calibri" pitchFamily="34" charset="-122"/>
                <a:cs typeface="Calibri" pitchFamily="34" charset="-120"/>
              </a:rPr>
              <a:t>Role  </a:t>
            </a:r>
            <a:pPr indent="0" marL="0">
              <a:spcAft>
                <a:spcPts val="800"/>
              </a:spcAft>
              <a:buNone/>
            </a:pPr>
            <a:r>
              <a:rPr lang="en-US" sz="1500" dirty="0">
                <a:solidFill>
                  <a:schemeClr val="tx2"/>
                </a:solidFill>
                <a:latin typeface="Calibri" pitchFamily="34" charset="0"/>
                <a:ea typeface="Calibri" pitchFamily="34" charset="-122"/>
                <a:cs typeface="Calibri" pitchFamily="34" charset="-120"/>
              </a:rPr>
              <a:t>Negative control: same code, tests for signal</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Data quality audit: what we kept, dropped and excluded</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PS1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graphicFrame>
        <p:nvGraphicFramePr>
          <p:cNvPr id="8" name="anim_014"/>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4754880"/>
                <a:gridCol w="4142232"/>
              </a:tblGrid>
              <a:tr h="51206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Credit card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UPI 2024</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Missing values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Duplicates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1,081 exact duplicates (19 fraud) → dropped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Impossible amounts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 negative; 1,808 zero amounts (25 fraud) → kept, flagged (card testing)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 ₹10–₹42,099 → log-transformed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Timestamps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Seconds since start → hour of day; raw Time dropped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All valid; hour and weekday consistent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Inconsistent categories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None (PCA)</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All 112,445 P2P rows have a merchant category; amounts identical across types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Leakage columns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Only Class excluded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transaction_status (post-decision), transaction id excluded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12064">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Split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Time-ordered 60 / 20 / 20, before any resampling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Same</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UPI fraud label carries no learnable signal</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PS1  ·  </a:t>
            </a:r>
            <a:pPr algn="r" indent="0" marL="0">
              <a:buNone/>
            </a:pPr>
            <a:r>
              <a:rPr lang="en-US" sz="1100" b="1" dirty="0">
                <a:solidFill>
                  <a:srgbClr val="14284B"/>
                </a:solidFill>
                <a:latin typeface="Calibri" pitchFamily="34" charset="0"/>
                <a:ea typeface="Calibri" pitchFamily="34" charset="-122"/>
                <a:cs typeface="Calibri" pitchFamily="34" charset="-120"/>
              </a:rPr>
              <a:t>N. Varshitha</a:t>
            </a:r>
            <a:endParaRPr lang="en-US" sz="1100" dirty="0"/>
          </a:p>
        </p:txBody>
      </p:sp>
      <p:pic>
        <p:nvPicPr>
          <p:cNvPr id="4" name="anim_015" descr="UPI precision-recall curves all on the random line">    </p:cNvPr>
          <p:cNvPicPr>
            <a:picLocks noChangeAspect="1"/>
          </p:cNvPicPr>
          <p:nvPr/>
        </p:nvPicPr>
        <p:blipFill>
          <a:blip r:embed="rId1"/>
          <a:stretch>
            <a:fillRect/>
          </a:stretch>
        </p:blipFill>
        <p:spPr>
          <a:xfrm>
            <a:off x="548640" y="1371600"/>
            <a:ext cx="6766560" cy="2803424"/>
          </a:xfrm>
          <a:prstGeom prst="rect">
            <a:avLst/>
          </a:prstGeom>
        </p:spPr>
      </p:pic>
      <p:sp>
        <p:nvSpPr>
          <p:cNvPr id="5" name="anim_016"/>
          <p:cNvSpPr txBox="1"/>
          <p:nvPr/>
        </p:nvSpPr>
        <p:spPr>
          <a:xfrm>
            <a:off x="7680960" y="1417320"/>
            <a:ext cx="3931920" cy="10515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13</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χ² tests; none survives multiple-testing correction</a:t>
            </a:r>
            <a:endParaRPr lang="en-US" sz="1600" dirty="0"/>
          </a:p>
        </p:txBody>
      </p:sp>
      <p:sp>
        <p:nvSpPr>
          <p:cNvPr id="6" name="anim_017"/>
          <p:cNvSpPr txBox="1"/>
          <p:nvPr/>
        </p:nvSpPr>
        <p:spPr>
          <a:xfrm>
            <a:off x="7680960" y="2560320"/>
            <a:ext cx="3931920" cy="10515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0.47–0.54</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test ROC-AUC across all 22 models</a:t>
            </a:r>
            <a:endParaRPr lang="en-US" sz="1600" dirty="0"/>
          </a:p>
        </p:txBody>
      </p:sp>
      <p:sp>
        <p:nvSpPr>
          <p:cNvPr id="7" name="anim_018"/>
          <p:cNvSpPr txBox="1"/>
          <p:nvPr/>
        </p:nvSpPr>
        <p:spPr>
          <a:xfrm>
            <a:off x="7680960" y="3703320"/>
            <a:ext cx="3931920" cy="10515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p = 0.78</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the validation 'winner' on test (p = 0.016 on validation)</a:t>
            </a:r>
            <a:endParaRPr lang="en-US" sz="1600" dirty="0"/>
          </a:p>
        </p:txBody>
      </p:sp>
      <p:sp>
        <p:nvSpPr>
          <p:cNvPr id="8" name="anim_019"/>
          <p:cNvSpPr txBox="1"/>
          <p:nvPr/>
        </p:nvSpPr>
        <p:spPr>
          <a:xfrm>
            <a:off x="7680960" y="4846320"/>
            <a:ext cx="3931920" cy="1051560"/>
          </a:xfrm>
          <a:prstGeom prst="rect">
            <a:avLst/>
          </a:prstGeom>
          <a:noFill/>
          <a:ln/>
        </p:spPr>
        <p:txBody>
          <a:bodyPr wrap="square" lIns="0" tIns="0" rIns="0" bIns="0" rtlCol="0" anchor="t"/>
          <a:lstStyle/>
          <a:p>
            <a:pPr indent="0" marL="0">
              <a:buNone/>
            </a:pPr>
            <a:r>
              <a:rPr lang="en-US" sz="2600" b="1" dirty="0">
                <a:solidFill>
                  <a:srgbClr val="1E7A52"/>
                </a:solidFill>
                <a:latin typeface="Cambria" pitchFamily="34" charset="0"/>
                <a:ea typeface="Cambria" pitchFamily="34" charset="-122"/>
                <a:cs typeface="Cambria" pitchFamily="34" charset="-120"/>
              </a:rPr>
              <a:t>Approve all</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is the cost-optimal UPI policy: ₹4.80 L vs ₹4.85 L for any rule</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 card data, fraud clusters in micro-amounts, the night and bursts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PS3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sp>
        <p:nvSpPr>
          <p:cNvPr id="4" name="anim_020"/>
          <p:cNvSpPr/>
          <p:nvPr/>
        </p:nvSpPr>
        <p:spPr>
          <a:xfrm>
            <a:off x="548640" y="1371600"/>
            <a:ext cx="3474720" cy="1234440"/>
          </a:xfrm>
          <a:prstGeom prst="roundRect">
            <a:avLst>
              <a:gd name="adj" fmla="val 5926"/>
            </a:avLst>
          </a:prstGeom>
          <a:solidFill>
            <a:srgbClr val="F2F4F7"/>
          </a:solidFill>
          <a:ln w="12700">
            <a:solidFill>
              <a:srgbClr val="F2F4F7"/>
            </a:solidFill>
            <a:prstDash val="solid"/>
          </a:ln>
        </p:spPr>
      </p:sp>
      <p:sp>
        <p:nvSpPr>
          <p:cNvPr id="5" name="Text 3"/>
          <p:cNvSpPr txBox="1"/>
          <p:nvPr/>
        </p:nvSpPr>
        <p:spPr>
          <a:xfrm>
            <a:off x="777240" y="1481328"/>
            <a:ext cx="3063240" cy="1051560"/>
          </a:xfrm>
          <a:prstGeom prst="rect">
            <a:avLst/>
          </a:prstGeom>
          <a:noFill/>
          <a:ln/>
        </p:spPr>
        <p:txBody>
          <a:bodyPr wrap="square" lIns="0" tIns="0" rIns="0" bIns="0" rtlCol="0" anchor="t"/>
          <a:lstStyle/>
          <a:p>
            <a:pPr indent="0" marL="0">
              <a:buNone/>
            </a:pPr>
            <a:r>
              <a:rPr lang="en-US" sz="2600" b="1" dirty="0">
                <a:solidFill>
                  <a:srgbClr val="B03A22"/>
                </a:solidFill>
                <a:latin typeface="Cambria" pitchFamily="34" charset="0"/>
                <a:ea typeface="Cambria" pitchFamily="34" charset="-122"/>
                <a:cs typeface="Cambria" pitchFamily="34" charset="-120"/>
              </a:rPr>
              <a:t>3× · 8×</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fraud rate at amounts ≤ 1.51 and at zero (card testing)</a:t>
            </a:r>
            <a:endParaRPr lang="en-US" sz="1600" dirty="0"/>
          </a:p>
        </p:txBody>
      </p:sp>
      <p:sp>
        <p:nvSpPr>
          <p:cNvPr id="6" name="anim_021"/>
          <p:cNvSpPr/>
          <p:nvPr/>
        </p:nvSpPr>
        <p:spPr>
          <a:xfrm>
            <a:off x="4297680" y="1371600"/>
            <a:ext cx="3474720" cy="1234440"/>
          </a:xfrm>
          <a:prstGeom prst="roundRect">
            <a:avLst>
              <a:gd name="adj" fmla="val 5926"/>
            </a:avLst>
          </a:prstGeom>
          <a:solidFill>
            <a:srgbClr val="F2F4F7"/>
          </a:solidFill>
          <a:ln w="12700">
            <a:solidFill>
              <a:srgbClr val="F2F4F7"/>
            </a:solidFill>
            <a:prstDash val="solid"/>
          </a:ln>
        </p:spPr>
      </p:sp>
      <p:sp>
        <p:nvSpPr>
          <p:cNvPr id="7" name="Text 5"/>
          <p:cNvSpPr txBox="1"/>
          <p:nvPr/>
        </p:nvSpPr>
        <p:spPr>
          <a:xfrm>
            <a:off x="4526280" y="1481328"/>
            <a:ext cx="3063240" cy="1051560"/>
          </a:xfrm>
          <a:prstGeom prst="rect">
            <a:avLst/>
          </a:prstGeom>
          <a:noFill/>
          <a:ln/>
        </p:spPr>
        <p:txBody>
          <a:bodyPr wrap="square" lIns="0" tIns="0" rIns="0" bIns="0" rtlCol="0" anchor="t"/>
          <a:lstStyle/>
          <a:p>
            <a:pPr indent="0" marL="0">
              <a:buNone/>
            </a:pPr>
            <a:r>
              <a:rPr lang="en-US" sz="2600" b="1" dirty="0">
                <a:solidFill>
                  <a:srgbClr val="B03A22"/>
                </a:solidFill>
                <a:latin typeface="Cambria" pitchFamily="34" charset="0"/>
                <a:ea typeface="Cambria" pitchFamily="34" charset="-122"/>
                <a:cs typeface="Cambria" pitchFamily="34" charset="-120"/>
              </a:rPr>
              <a:t>23% in 5.7%</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fraud in the 01–05h window, which carries 5.7% of traffic</a:t>
            </a:r>
            <a:endParaRPr lang="en-US" sz="1600" dirty="0"/>
          </a:p>
        </p:txBody>
      </p:sp>
      <p:sp>
        <p:nvSpPr>
          <p:cNvPr id="8" name="anim_022"/>
          <p:cNvSpPr/>
          <p:nvPr/>
        </p:nvSpPr>
        <p:spPr>
          <a:xfrm>
            <a:off x="8046720" y="1371600"/>
            <a:ext cx="3474720" cy="1234440"/>
          </a:xfrm>
          <a:prstGeom prst="roundRect">
            <a:avLst>
              <a:gd name="adj" fmla="val 5926"/>
            </a:avLst>
          </a:prstGeom>
          <a:solidFill>
            <a:srgbClr val="F2F4F7"/>
          </a:solidFill>
          <a:ln w="12700">
            <a:solidFill>
              <a:srgbClr val="F2F4F7"/>
            </a:solidFill>
            <a:prstDash val="solid"/>
          </a:ln>
        </p:spPr>
      </p:sp>
      <p:sp>
        <p:nvSpPr>
          <p:cNvPr id="9" name="Text 7"/>
          <p:cNvSpPr txBox="1"/>
          <p:nvPr/>
        </p:nvSpPr>
        <p:spPr>
          <a:xfrm>
            <a:off x="8275320" y="1481328"/>
            <a:ext cx="3063240" cy="1051560"/>
          </a:xfrm>
          <a:prstGeom prst="rect">
            <a:avLst/>
          </a:prstGeom>
          <a:noFill/>
          <a:ln/>
        </p:spPr>
        <p:txBody>
          <a:bodyPr wrap="square" lIns="0" tIns="0" rIns="0" bIns="0" rtlCol="0" anchor="t"/>
          <a:lstStyle/>
          <a:p>
            <a:pPr indent="0" marL="0">
              <a:buNone/>
            </a:pPr>
            <a:r>
              <a:rPr lang="en-US" sz="2600" b="1" dirty="0">
                <a:solidFill>
                  <a:srgbClr val="B03A22"/>
                </a:solidFill>
                <a:latin typeface="Cambria" pitchFamily="34" charset="0"/>
                <a:ea typeface="Cambria" pitchFamily="34" charset="-122"/>
                <a:cs typeface="Cambria" pitchFamily="34" charset="-120"/>
              </a:rPr>
              <a:t>43 in 1 hour</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frauds arriving together: campaigns, not noise</a:t>
            </a:r>
            <a:endParaRPr lang="en-US" sz="1600" dirty="0"/>
          </a:p>
        </p:txBody>
      </p:sp>
      <p:pic>
        <p:nvPicPr>
          <p:cNvPr id="10" name="anim_023" descr="Fraud rate by amount band and hour with confidence intervals">    </p:cNvPr>
          <p:cNvPicPr>
            <a:picLocks noChangeAspect="1"/>
          </p:cNvPicPr>
          <p:nvPr/>
        </p:nvPicPr>
        <p:blipFill>
          <a:blip r:embed="rId1"/>
          <a:stretch>
            <a:fillRect/>
          </a:stretch>
        </p:blipFill>
        <p:spPr>
          <a:xfrm>
            <a:off x="1846322" y="2834640"/>
            <a:ext cx="8499051" cy="342900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Fraud arrives in night-time bursts with a distinct behaviour signature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PS3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pic>
        <p:nvPicPr>
          <p:cNvPr id="4" name="anim_024" descr="04_fraud_over_time.png">    </p:cNvPr>
          <p:cNvPicPr>
            <a:picLocks noChangeAspect="1"/>
          </p:cNvPicPr>
          <p:nvPr/>
        </p:nvPicPr>
        <p:blipFill>
          <a:blip r:embed="rId1"/>
          <a:stretch>
            <a:fillRect/>
          </a:stretch>
        </p:blipFill>
        <p:spPr>
          <a:xfrm>
            <a:off x="1413384" y="1371600"/>
            <a:ext cx="9364927" cy="3108960"/>
          </a:xfrm>
          <a:prstGeom prst="rect">
            <a:avLst/>
          </a:prstGeom>
        </p:spPr>
      </p:pic>
      <p:pic>
        <p:nvPicPr>
          <p:cNvPr id="5" name="anim_025" descr="03_behaviour_signature.png">    </p:cNvPr>
          <p:cNvPicPr>
            <a:picLocks noChangeAspect="1"/>
          </p:cNvPicPr>
          <p:nvPr/>
        </p:nvPicPr>
        <p:blipFill>
          <a:blip r:embed="rId2"/>
          <a:stretch>
            <a:fillRect/>
          </a:stretch>
        </p:blipFill>
        <p:spPr>
          <a:xfrm>
            <a:off x="2750735" y="4572000"/>
            <a:ext cx="6690225" cy="1737360"/>
          </a:xfrm>
          <a:prstGeom prst="rect">
            <a:avLst/>
          </a:prstGeom>
        </p:spPr>
      </p:pic>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How the system decides</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22 supervised models, 6 label-free detectors, one cost-set rule</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M. Kumara Swamy (PS4) and V. Naishadh (PS5)</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One pipeline: labelled and label-free scores feed a cost-set rule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sp>
        <p:nvSpPr>
          <p:cNvPr id="4" name="anim_026"/>
          <p:cNvSpPr/>
          <p:nvPr/>
        </p:nvSpPr>
        <p:spPr>
          <a:xfrm>
            <a:off x="548640" y="2011680"/>
            <a:ext cx="1965960" cy="1600200"/>
          </a:xfrm>
          <a:prstGeom prst="roundRect">
            <a:avLst>
              <a:gd name="adj" fmla="val 4571"/>
            </a:avLst>
          </a:prstGeom>
          <a:solidFill>
            <a:srgbClr val="F2F4F7"/>
          </a:solidFill>
          <a:ln w="12700">
            <a:solidFill>
              <a:srgbClr val="F2F4F7"/>
            </a:solidFill>
            <a:prstDash val="solid"/>
          </a:ln>
        </p:spPr>
      </p:sp>
      <p:sp>
        <p:nvSpPr>
          <p:cNvPr id="5" name="Text 3"/>
          <p:cNvSpPr txBox="1"/>
          <p:nvPr/>
        </p:nvSpPr>
        <p:spPr>
          <a:xfrm>
            <a:off x="713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Audit &amp; split</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dedupe · leakage out · time split 60/20/20</a:t>
            </a:r>
            <a:endParaRPr lang="en-US" sz="1600" dirty="0"/>
          </a:p>
        </p:txBody>
      </p:sp>
      <p:sp>
        <p:nvSpPr>
          <p:cNvPr id="6" name="Shape 4"/>
          <p:cNvSpPr/>
          <p:nvPr/>
        </p:nvSpPr>
        <p:spPr>
          <a:xfrm>
            <a:off x="2532888" y="2670048"/>
            <a:ext cx="274320" cy="274320"/>
          </a:xfrm>
          <a:prstGeom prst="rightArrow">
            <a:avLst/>
          </a:prstGeom>
          <a:solidFill>
            <a:srgbClr val="5B6B85"/>
          </a:solidFill>
          <a:ln w="12700">
            <a:solidFill>
              <a:srgbClr val="5B6B85"/>
            </a:solidFill>
            <a:prstDash val="solid"/>
          </a:ln>
        </p:spPr>
      </p:sp>
      <p:sp>
        <p:nvSpPr>
          <p:cNvPr id="7" name="anim_027"/>
          <p:cNvSpPr/>
          <p:nvPr/>
        </p:nvSpPr>
        <p:spPr>
          <a:xfrm>
            <a:off x="2834640" y="2011680"/>
            <a:ext cx="1965960" cy="1600200"/>
          </a:xfrm>
          <a:prstGeom prst="roundRect">
            <a:avLst>
              <a:gd name="adj" fmla="val 4571"/>
            </a:avLst>
          </a:prstGeom>
          <a:solidFill>
            <a:srgbClr val="F2F4F7"/>
          </a:solidFill>
          <a:ln w="12700">
            <a:solidFill>
              <a:srgbClr val="F2F4F7"/>
            </a:solidFill>
            <a:prstDash val="solid"/>
          </a:ln>
        </p:spPr>
      </p:sp>
      <p:sp>
        <p:nvSpPr>
          <p:cNvPr id="8" name="Text 6"/>
          <p:cNvSpPr txBox="1"/>
          <p:nvPr/>
        </p:nvSpPr>
        <p:spPr>
          <a:xfrm>
            <a:off x="2999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Supervised model</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CatBoost + class weights</a:t>
            </a:r>
            <a:endParaRPr lang="en-US" sz="1600" dirty="0"/>
          </a:p>
        </p:txBody>
      </p:sp>
      <p:sp>
        <p:nvSpPr>
          <p:cNvPr id="9" name="Shape 7"/>
          <p:cNvSpPr/>
          <p:nvPr/>
        </p:nvSpPr>
        <p:spPr>
          <a:xfrm>
            <a:off x="4818888" y="2670048"/>
            <a:ext cx="274320" cy="274320"/>
          </a:xfrm>
          <a:prstGeom prst="rightArrow">
            <a:avLst/>
          </a:prstGeom>
          <a:solidFill>
            <a:srgbClr val="5B6B85"/>
          </a:solidFill>
          <a:ln w="12700">
            <a:solidFill>
              <a:srgbClr val="5B6B85"/>
            </a:solidFill>
            <a:prstDash val="solid"/>
          </a:ln>
        </p:spPr>
      </p:sp>
      <p:sp>
        <p:nvSpPr>
          <p:cNvPr id="10" name="anim_028"/>
          <p:cNvSpPr/>
          <p:nvPr/>
        </p:nvSpPr>
        <p:spPr>
          <a:xfrm>
            <a:off x="5120640" y="2011680"/>
            <a:ext cx="1965960" cy="1600200"/>
          </a:xfrm>
          <a:prstGeom prst="roundRect">
            <a:avLst>
              <a:gd name="adj" fmla="val 4571"/>
            </a:avLst>
          </a:prstGeom>
          <a:solidFill>
            <a:srgbClr val="F2F4F7"/>
          </a:solidFill>
          <a:ln w="12700">
            <a:solidFill>
              <a:srgbClr val="F2F4F7"/>
            </a:solidFill>
            <a:prstDash val="solid"/>
          </a:ln>
        </p:spPr>
      </p:sp>
      <p:sp>
        <p:nvSpPr>
          <p:cNvPr id="11" name="Text 9"/>
          <p:cNvSpPr txBox="1"/>
          <p:nvPr/>
        </p:nvSpPr>
        <p:spPr>
          <a:xfrm>
            <a:off x="5285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Calibrate</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isotonic → risk 0–100</a:t>
            </a:r>
            <a:endParaRPr lang="en-US" sz="1600" dirty="0"/>
          </a:p>
        </p:txBody>
      </p:sp>
      <p:sp>
        <p:nvSpPr>
          <p:cNvPr id="12" name="Shape 10"/>
          <p:cNvSpPr/>
          <p:nvPr/>
        </p:nvSpPr>
        <p:spPr>
          <a:xfrm>
            <a:off x="7104888" y="2670048"/>
            <a:ext cx="274320" cy="274320"/>
          </a:xfrm>
          <a:prstGeom prst="rightArrow">
            <a:avLst/>
          </a:prstGeom>
          <a:solidFill>
            <a:srgbClr val="5B6B85"/>
          </a:solidFill>
          <a:ln w="12700">
            <a:solidFill>
              <a:srgbClr val="5B6B85"/>
            </a:solidFill>
            <a:prstDash val="solid"/>
          </a:ln>
        </p:spPr>
      </p:sp>
      <p:sp>
        <p:nvSpPr>
          <p:cNvPr id="13" name="anim_029"/>
          <p:cNvSpPr/>
          <p:nvPr/>
        </p:nvSpPr>
        <p:spPr>
          <a:xfrm>
            <a:off x="7406640" y="2011680"/>
            <a:ext cx="1965960" cy="1600200"/>
          </a:xfrm>
          <a:prstGeom prst="roundRect">
            <a:avLst>
              <a:gd name="adj" fmla="val 4571"/>
            </a:avLst>
          </a:prstGeom>
          <a:solidFill>
            <a:srgbClr val="F2F4F7"/>
          </a:solidFill>
          <a:ln w="12700">
            <a:solidFill>
              <a:srgbClr val="F2F4F7"/>
            </a:solidFill>
            <a:prstDash val="solid"/>
          </a:ln>
        </p:spPr>
      </p:sp>
      <p:sp>
        <p:nvSpPr>
          <p:cNvPr id="14" name="Text 12"/>
          <p:cNvSpPr txBox="1"/>
          <p:nvPr/>
        </p:nvSpPr>
        <p:spPr>
          <a:xfrm>
            <a:off x="7571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 threshold search</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2 cut-offs on validation</a:t>
            </a:r>
            <a:endParaRPr lang="en-US" sz="1600" dirty="0"/>
          </a:p>
        </p:txBody>
      </p:sp>
      <p:sp>
        <p:nvSpPr>
          <p:cNvPr id="15" name="Shape 13"/>
          <p:cNvSpPr/>
          <p:nvPr/>
        </p:nvSpPr>
        <p:spPr>
          <a:xfrm>
            <a:off x="9390888" y="2670048"/>
            <a:ext cx="274320" cy="274320"/>
          </a:xfrm>
          <a:prstGeom prst="rightArrow">
            <a:avLst/>
          </a:prstGeom>
          <a:solidFill>
            <a:srgbClr val="5B6B85"/>
          </a:solidFill>
          <a:ln w="12700">
            <a:solidFill>
              <a:srgbClr val="5B6B85"/>
            </a:solidFill>
            <a:prstDash val="solid"/>
          </a:ln>
        </p:spPr>
      </p:sp>
      <p:sp>
        <p:nvSpPr>
          <p:cNvPr id="16" name="anim_030"/>
          <p:cNvSpPr/>
          <p:nvPr/>
        </p:nvSpPr>
        <p:spPr>
          <a:xfrm>
            <a:off x="9692640" y="2011680"/>
            <a:ext cx="1965960" cy="1600200"/>
          </a:xfrm>
          <a:prstGeom prst="roundRect">
            <a:avLst>
              <a:gd name="adj" fmla="val 4571"/>
            </a:avLst>
          </a:prstGeom>
          <a:solidFill>
            <a:srgbClr val="E7F2EC"/>
          </a:solidFill>
          <a:ln w="12700">
            <a:solidFill>
              <a:srgbClr val="E7F2EC"/>
            </a:solidFill>
            <a:prstDash val="solid"/>
          </a:ln>
        </p:spPr>
      </p:sp>
      <p:sp>
        <p:nvSpPr>
          <p:cNvPr id="17" name="Text 15"/>
          <p:cNvSpPr txBox="1"/>
          <p:nvPr/>
        </p:nvSpPr>
        <p:spPr>
          <a:xfrm>
            <a:off x="9857232" y="2148840"/>
            <a:ext cx="1645920" cy="137160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Decide</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approve · OTP · block</a:t>
            </a:r>
            <a:endParaRPr lang="en-US" sz="1600" dirty="0"/>
          </a:p>
        </p:txBody>
      </p:sp>
      <p:sp>
        <p:nvSpPr>
          <p:cNvPr id="18" name="anim_031"/>
          <p:cNvSpPr/>
          <p:nvPr/>
        </p:nvSpPr>
        <p:spPr>
          <a:xfrm>
            <a:off x="2834640" y="3977640"/>
            <a:ext cx="1965960" cy="1188720"/>
          </a:xfrm>
          <a:prstGeom prst="roundRect">
            <a:avLst>
              <a:gd name="adj" fmla="val 6154"/>
            </a:avLst>
          </a:prstGeom>
          <a:solidFill>
            <a:srgbClr val="FBF1D6"/>
          </a:solidFill>
          <a:ln w="12700">
            <a:solidFill>
              <a:srgbClr val="FBF1D6"/>
            </a:solidFill>
            <a:prstDash val="solid"/>
          </a:ln>
        </p:spPr>
      </p:sp>
      <p:sp>
        <p:nvSpPr>
          <p:cNvPr id="19" name="Text 17"/>
          <p:cNvSpPr txBox="1"/>
          <p:nvPr/>
        </p:nvSpPr>
        <p:spPr>
          <a:xfrm>
            <a:off x="2999232" y="4114800"/>
            <a:ext cx="1645920" cy="9144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Label-free watch-list</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COPOD, no labels</a:t>
            </a:r>
            <a:endParaRPr lang="en-US" sz="1600" dirty="0"/>
          </a:p>
        </p:txBody>
      </p:sp>
      <p:sp>
        <p:nvSpPr>
          <p:cNvPr id="20" name="Shape 18"/>
          <p:cNvSpPr/>
          <p:nvPr/>
        </p:nvSpPr>
        <p:spPr>
          <a:xfrm>
            <a:off x="3817620" y="3611880"/>
            <a:ext cx="0" cy="365760"/>
          </a:xfrm>
          <a:prstGeom prst="line">
            <a:avLst/>
          </a:prstGeom>
          <a:noFill/>
          <a:ln w="15875">
            <a:solidFill>
              <a:srgbClr val="5B6B85"/>
            </a:solidFill>
            <a:prstDash val="dash"/>
          </a:ln>
        </p:spPr>
      </p:sp>
      <p:sp>
        <p:nvSpPr>
          <p:cNvPr id="21" name="Text 19"/>
          <p:cNvSpPr txBox="1"/>
          <p:nvPr/>
        </p:nvSpPr>
        <p:spPr>
          <a:xfrm>
            <a:off x="548640" y="5440680"/>
            <a:ext cx="11094415" cy="7315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Guard-rails enforced in code: </a:t>
            </a:r>
            <a:pPr indent="0" marL="0">
              <a:buNone/>
            </a:pPr>
            <a:r>
              <a:rPr lang="en-US" sz="1400" dirty="0">
                <a:solidFill>
                  <a:schemeClr val="tx2"/>
                </a:solidFill>
                <a:latin typeface="Calibri" pitchFamily="34" charset="0"/>
                <a:ea typeface="Calibri" pitchFamily="34" charset="-122"/>
                <a:cs typeface="Calibri" pitchFamily="34" charset="-120"/>
              </a:rPr>
              <a:t>SMOTE only inside the training pipeline · Optuna tunes on time-series folds inside train · deep-model early stopping on the last 15% of train · model choice, calibration and thresholds on validation · test scored once · seed 42</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grpId="0" nodeType="withEffect">
                                  <p:stCondLst>
                                    <p:cond delay="85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22 models compared; CatBoost wins on validation PR-AUC and cost</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pic>
        <p:nvPicPr>
          <p:cNvPr id="4" name="anim_032" descr="05b_all_models_pr_auc_ci.png">    </p:cNvPr>
          <p:cNvPicPr>
            <a:picLocks noChangeAspect="1"/>
          </p:cNvPicPr>
          <p:nvPr/>
        </p:nvPicPr>
        <p:blipFill>
          <a:blip r:embed="rId1"/>
          <a:stretch>
            <a:fillRect/>
          </a:stretch>
        </p:blipFill>
        <p:spPr>
          <a:xfrm>
            <a:off x="548640" y="1325880"/>
            <a:ext cx="6910409" cy="5029200"/>
          </a:xfrm>
          <a:prstGeom prst="rect">
            <a:avLst/>
          </a:prstGeom>
        </p:spPr>
      </p:pic>
      <p:sp>
        <p:nvSpPr>
          <p:cNvPr id="5" name="anim_033"/>
          <p:cNvSpPr txBox="1"/>
          <p:nvPr/>
        </p:nvSpPr>
        <p:spPr>
          <a:xfrm>
            <a:off x="7772400" y="1417320"/>
            <a:ext cx="3840480" cy="23774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latin typeface="Calibri" pitchFamily="34" charset="0"/>
                <a:ea typeface="Calibri" pitchFamily="34" charset="-122"/>
                <a:cs typeface="Calibri" pitchFamily="34" charset="-120"/>
              </a:rPr>
              <a:t>Selection rule, fixed before test</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Within 0.01 of best validation PR-AUC (6 models)</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Lowest validation ₹ cost: CatBoost ₹66,300</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Single model over ensemble (latency, exact SHAP)</a:t>
            </a:r>
            <a:endParaRPr lang="en-US" sz="1400" dirty="0"/>
          </a:p>
          <a:p>
            <a:pPr marL="342900" indent="-342900">
              <a:spcAft>
                <a:spcPts val="600"/>
              </a:spcAft>
              <a:buSzPct val="100000"/>
              <a:buFont typeface="+mj-lt"/>
              <a:buAutoNum type="arabicPeriod" startAt="1"/>
            </a:pPr>
            <a:r>
              <a:rPr lang="en-US" sz="1400" dirty="0">
                <a:solidFill>
                  <a:schemeClr val="tx2"/>
                </a:solidFill>
                <a:latin typeface="Calibri" pitchFamily="34" charset="0"/>
                <a:ea typeface="Calibri" pitchFamily="34" charset="-122"/>
                <a:cs typeface="Calibri" pitchFamily="34" charset="-120"/>
              </a:rPr>
              <a:t>Permutation test p &lt; 0.002</a:t>
            </a:r>
            <a:endParaRPr lang="en-US" sz="1400" dirty="0"/>
          </a:p>
        </p:txBody>
      </p:sp>
      <p:sp>
        <p:nvSpPr>
          <p:cNvPr id="6" name="anim_034"/>
          <p:cNvSpPr txBox="1"/>
          <p:nvPr/>
        </p:nvSpPr>
        <p:spPr>
          <a:xfrm>
            <a:off x="7772400" y="4023360"/>
            <a:ext cx="3840480" cy="10515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0.80</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test PR-AUC (95% CI 0.71–0.88) vs 0.0013 random</a:t>
            </a:r>
            <a:endParaRPr lang="en-US" sz="1600" dirty="0"/>
          </a:p>
        </p:txBody>
      </p:sp>
      <p:sp>
        <p:nvSpPr>
          <p:cNvPr id="7" name="anim_035"/>
          <p:cNvSpPr txBox="1"/>
          <p:nvPr/>
        </p:nvSpPr>
        <p:spPr>
          <a:xfrm>
            <a:off x="7772400" y="5166360"/>
            <a:ext cx="3840480" cy="105156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&lt; 1 µs</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per payment on a laptop CPU</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Class weights beat SMOTE; imbalance handling matters most for linear models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graphicFrame>
        <p:nvGraphicFramePr>
          <p:cNvPr id="4" name="chart_smote"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anim_036"/>
          <p:cNvSpPr txBox="1"/>
          <p:nvPr/>
        </p:nvSpPr>
        <p:spPr>
          <a:xfrm>
            <a:off x="7772400" y="1463040"/>
            <a:ext cx="3840480" cy="457200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LogReg: weights 0.753 · SMOTE 0.705 · none 0.608</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A linear model needs imbalance handling; class weights do it best.</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Trees: all three regimes within ±0.02</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Well inside the ±0.08 bootstrap interval, so the difference is noise.</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7A52"/>
                </a:solidFill>
                <a:latin typeface="Calibri" pitchFamily="34" charset="0"/>
                <a:ea typeface="Calibri" pitchFamily="34" charset="-122"/>
                <a:cs typeface="Calibri" pitchFamily="34" charset="-120"/>
              </a:rPr>
              <a:t>Decision: class weights</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No synthetic transactions, no extra training time, probabilities closer to calibrated. SMOTE always ran inside the training fold only.</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We tried research-grade models; tuned trees still won</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PS4  ·  </a:t>
            </a:r>
            <a:pPr algn="r" indent="0" marL="0">
              <a:buNone/>
            </a:pPr>
            <a:r>
              <a:rPr lang="en-US" sz="1100" b="1" dirty="0">
                <a:solidFill>
                  <a:srgbClr val="14284B"/>
                </a:solidFill>
                <a:latin typeface="Calibri" pitchFamily="34" charset="0"/>
                <a:ea typeface="Calibri" pitchFamily="34" charset="-122"/>
                <a:cs typeface="Calibri" pitchFamily="34" charset="-120"/>
              </a:rPr>
              <a:t>M. Kumara Swamy</a:t>
            </a:r>
            <a:endParaRPr lang="en-US" sz="1100" dirty="0"/>
          </a:p>
        </p:txBody>
      </p:sp>
      <p:graphicFrame>
        <p:nvGraphicFramePr>
          <p:cNvPr id="16" name="anim_037"/>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3108960"/>
                <a:gridCol w="1280160"/>
                <a:gridCol w="1280160"/>
                <a:gridCol w="2130552"/>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adds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 PR-AUC</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PR-AUC</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FT-Transformer (Gorishniy et al., 2021)</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Attention over feature tokens; focal loss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0.707</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0.739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Below every GBDT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Deep MLP, focal loss (Lin et al., 2017)</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Loss-level imbalance handling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0.742</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0.806</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Weaker on validation</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LightGBM + Optuna (30 TPE trials)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Tuned on time-series folds in train</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0.777</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0.801</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 gain over defaults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Hybrid: LightGBM + anomaly scores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Label-free scores as features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0.775</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0.789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Adds nothing</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Soft-vote ensemble (fixed members)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CatBoost + XGBoost + LightGBM</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0.799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No gain over CatBoost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400" b="1" dirty="0">
                          <a:solidFill>
                            <a:srgbClr val="2E3B52"/>
                          </a:solidFill>
                          <a:latin typeface="Calibri" pitchFamily="34" charset="0"/>
                          <a:ea typeface="Calibri" pitchFamily="34" charset="-122"/>
                          <a:cs typeface="Calibri" pitchFamily="34" charset="-120"/>
                        </a:rPr>
                        <a:t>CatBoost, class weights (selected)</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dirty="0">
                          <a:solidFill>
                            <a:srgbClr val="2E3B52"/>
                          </a:solidFill>
                          <a:latin typeface="Calibri" pitchFamily="34" charset="0"/>
                          <a:ea typeface="Calibri" pitchFamily="34" charset="-122"/>
                          <a:cs typeface="Calibri" pitchFamily="34" charset="-120"/>
                        </a:rPr>
                        <a:t>Ordered boosting, √-balanced weights</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b="1" dirty="0">
                          <a:solidFill>
                            <a:srgbClr val="2E3B52"/>
                          </a:solidFill>
                          <a:latin typeface="Calibri" pitchFamily="34" charset="0"/>
                          <a:ea typeface="Calibri" pitchFamily="34" charset="-122"/>
                          <a:cs typeface="Calibri" pitchFamily="34" charset="-120"/>
                        </a:rPr>
                        <a:t>0.784</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b="1" dirty="0">
                          <a:solidFill>
                            <a:srgbClr val="2E3B52"/>
                          </a:solidFill>
                          <a:latin typeface="Calibri" pitchFamily="34" charset="0"/>
                          <a:ea typeface="Calibri" pitchFamily="34" charset="-122"/>
                          <a:cs typeface="Calibri" pitchFamily="34" charset="-120"/>
                        </a:rPr>
                        <a:t>0.799</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400" b="1" dirty="0">
                          <a:solidFill>
                            <a:srgbClr val="1E7A52"/>
                          </a:solidFill>
                          <a:latin typeface="Calibri" pitchFamily="34" charset="0"/>
                          <a:ea typeface="Calibri" pitchFamily="34" charset="-122"/>
                          <a:cs typeface="Calibri" pitchFamily="34" charset="-120"/>
                        </a:rPr>
                        <a:t>Best val PR-AUC and cost</a:t>
                      </a:r>
                      <a:endParaRPr lang="en-US" sz="14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sp>
        <p:nvSpPr>
          <p:cNvPr id="5" name="Text 2"/>
          <p:cNvSpPr txBox="1"/>
          <p:nvPr/>
        </p:nvSpPr>
        <p:spPr>
          <a:xfrm>
            <a:off x="548640" y="5623560"/>
            <a:ext cx="11094415" cy="548640"/>
          </a:xfrm>
          <a:prstGeom prst="rect">
            <a:avLst/>
          </a:prstGeom>
          <a:noFill/>
          <a:ln/>
        </p:spPr>
        <p:txBody>
          <a:bodyPr wrap="square" lIns="0" tIns="0" rIns="0" bIns="0" rtlCol="0" anchor="t"/>
          <a:lstStyle/>
          <a:p>
            <a:pPr indent="0" marL="0">
              <a:buNone/>
            </a:pPr>
            <a:r>
              <a:rPr lang="en-US" sz="1400" dirty="0">
                <a:solidFill>
                  <a:schemeClr val="accent5"/>
                </a:solidFill>
                <a:latin typeface="Calibri" pitchFamily="34" charset="0"/>
                <a:ea typeface="Calibri" pitchFamily="34" charset="-122"/>
                <a:cs typeface="Calibri" pitchFamily="34" charset="-120"/>
              </a:rPr>
              <a:t>Consistent with Grinsztajn et al. (2022): tree ensembles still lead on mid-sized tabular data. The brief rewards business value, not complexity, so complexity had to earn its place.</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Without any labels, COPOD finds 59% of fraud in its top 1%</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PS5  ·  </a:t>
            </a:r>
            <a:pPr algn="r" indent="0" marL="0">
              <a:buNone/>
            </a:pPr>
            <a:r>
              <a:rPr lang="en-US" sz="1100" b="1" dirty="0">
                <a:solidFill>
                  <a:srgbClr val="14284B"/>
                </a:solidFill>
                <a:latin typeface="Calibri" pitchFamily="34" charset="0"/>
                <a:ea typeface="Calibri" pitchFamily="34" charset="-122"/>
                <a:cs typeface="Calibri" pitchFamily="34" charset="-120"/>
              </a:rPr>
              <a:t>V. Naishadh</a:t>
            </a:r>
            <a:endParaRPr lang="en-US" sz="1100" dirty="0"/>
          </a:p>
        </p:txBody>
      </p:sp>
      <p:graphicFrame>
        <p:nvGraphicFramePr>
          <p:cNvPr id="4" name="chart_anom" descr=""/>
          <p:cNvGraphicFramePr/>
          <p:nvPr/>
        </p:nvGraphicFramePr>
        <p:xfrm>
          <a:off x="548640" y="137160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anim_038"/>
          <p:cNvSpPr txBox="1"/>
          <p:nvPr/>
        </p:nvSpPr>
        <p:spPr>
          <a:xfrm>
            <a:off x="7772400" y="1463040"/>
            <a:ext cx="3840480" cy="12801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44 of 74</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test frauds in COPOD's top 1%; precision there is 60× random</a:t>
            </a:r>
            <a:endParaRPr lang="en-US" sz="1600" dirty="0"/>
          </a:p>
        </p:txBody>
      </p:sp>
      <p:sp>
        <p:nvSpPr>
          <p:cNvPr id="6" name="anim_039"/>
          <p:cNvSpPr txBox="1"/>
          <p:nvPr/>
        </p:nvSpPr>
        <p:spPr>
          <a:xfrm>
            <a:off x="7772400" y="2926080"/>
            <a:ext cx="3840480" cy="12801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43 overlap</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with the supervised top 1%: it mostly re-finds known fraud</a:t>
            </a:r>
            <a:endParaRPr lang="en-US" sz="1600" dirty="0"/>
          </a:p>
        </p:txBody>
      </p:sp>
      <p:sp>
        <p:nvSpPr>
          <p:cNvPr id="7" name="anim_040"/>
          <p:cNvSpPr txBox="1"/>
          <p:nvPr/>
        </p:nvSpPr>
        <p:spPr>
          <a:xfrm>
            <a:off x="7772400" y="4389120"/>
            <a:ext cx="3840480" cy="128016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Watch-list</a:t>
            </a:r>
            <a:endParaRPr lang="en-US" sz="1600" dirty="0"/>
          </a:p>
          <a:p>
            <a:pPr indent="0" marL="0">
              <a:buNone/>
            </a:pPr>
            <a:r>
              <a:rPr lang="en-US" sz="1400" dirty="0">
                <a:solidFill>
                  <a:schemeClr val="accent5"/>
                </a:solidFill>
                <a:latin typeface="Calibri" pitchFamily="34" charset="0"/>
                <a:ea typeface="Calibri" pitchFamily="34" charset="-122"/>
                <a:cs typeface="Calibri" pitchFamily="34" charset="-120"/>
              </a:rPr>
              <a:t>its job: surface new fraud patterns that have no labels yet, for analysts, not for blocking</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From score to rupees</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A cost-based threshold, then three bands</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V. Naishadh (PS6) and M. Suman Srinivas (PS7)</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cheapest cut-off is 0.119, not 0.5</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PS6  ·  </a:t>
            </a:r>
            <a:pPr algn="r" indent="0" marL="0">
              <a:buNone/>
            </a:pPr>
            <a:r>
              <a:rPr lang="en-US" sz="1100" b="1" dirty="0">
                <a:solidFill>
                  <a:srgbClr val="14284B"/>
                </a:solidFill>
                <a:latin typeface="Calibri" pitchFamily="34" charset="0"/>
                <a:ea typeface="Calibri" pitchFamily="34" charset="-122"/>
                <a:cs typeface="Calibri" pitchFamily="34" charset="-120"/>
              </a:rPr>
              <a:t>V. Naishadh</a:t>
            </a:r>
            <a:endParaRPr lang="en-US" sz="1100" dirty="0"/>
          </a:p>
        </p:txBody>
      </p:sp>
      <p:pic>
        <p:nvPicPr>
          <p:cNvPr id="4" name="anim_041" descr="09_cost_threshold_confusion.png">    </p:cNvPr>
          <p:cNvPicPr>
            <a:picLocks noChangeAspect="1"/>
          </p:cNvPicPr>
          <p:nvPr/>
        </p:nvPicPr>
        <p:blipFill>
          <a:blip r:embed="rId1"/>
          <a:stretch>
            <a:fillRect/>
          </a:stretch>
        </p:blipFill>
        <p:spPr>
          <a:xfrm>
            <a:off x="556796" y="1325880"/>
            <a:ext cx="11078102" cy="3840480"/>
          </a:xfrm>
          <a:prstGeom prst="rect">
            <a:avLst/>
          </a:prstGeom>
        </p:spPr>
      </p:pic>
      <p:sp>
        <p:nvSpPr>
          <p:cNvPr id="5" name="anim_042"/>
          <p:cNvSpPr txBox="1"/>
          <p:nvPr/>
        </p:nvSpPr>
        <p:spPr>
          <a:xfrm>
            <a:off x="54864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58 of 74</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frauds caught on test at 0.119</a:t>
            </a:r>
            <a:endParaRPr lang="en-US" sz="1600" dirty="0"/>
          </a:p>
        </p:txBody>
      </p:sp>
      <p:sp>
        <p:nvSpPr>
          <p:cNvPr id="6" name="anim_043"/>
          <p:cNvSpPr txBox="1"/>
          <p:nvPr/>
        </p:nvSpPr>
        <p:spPr>
          <a:xfrm>
            <a:off x="333756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genuine payments blocked</a:t>
            </a:r>
            <a:endParaRPr lang="en-US" sz="1600" dirty="0"/>
          </a:p>
        </p:txBody>
      </p:sp>
      <p:sp>
        <p:nvSpPr>
          <p:cNvPr id="7" name="anim_044"/>
          <p:cNvSpPr txBox="1"/>
          <p:nvPr/>
        </p:nvSpPr>
        <p:spPr>
          <a:xfrm>
            <a:off x="612648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₹86,600</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test cost vs ₹92,700 at 0.5</a:t>
            </a:r>
            <a:endParaRPr lang="en-US" sz="1600" dirty="0"/>
          </a:p>
        </p:txBody>
      </p:sp>
      <p:sp>
        <p:nvSpPr>
          <p:cNvPr id="8" name="anim_045"/>
          <p:cNvSpPr txBox="1"/>
          <p:nvPr/>
        </p:nvSpPr>
        <p:spPr>
          <a:xfrm>
            <a:off x="8915400" y="5349240"/>
            <a:ext cx="2651760" cy="9144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₹54,500–₹1.27 L</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bootstrap 95% CI of that cost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Wrong cost guesses barely move the decision</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PS6  ·  </a:t>
            </a:r>
            <a:pPr algn="r" indent="0" marL="0">
              <a:buNone/>
            </a:pPr>
            <a:r>
              <a:rPr lang="en-US" sz="1100" b="1" dirty="0">
                <a:solidFill>
                  <a:srgbClr val="14284B"/>
                </a:solidFill>
                <a:latin typeface="Calibri" pitchFamily="34" charset="0"/>
                <a:ea typeface="Calibri" pitchFamily="34" charset="-122"/>
                <a:cs typeface="Calibri" pitchFamily="34" charset="-120"/>
              </a:rPr>
              <a:t>V. Naishadh</a:t>
            </a:r>
            <a:endParaRPr lang="en-US" sz="1100" dirty="0"/>
          </a:p>
        </p:txBody>
      </p:sp>
      <p:pic>
        <p:nvPicPr>
          <p:cNvPr id="4" name="anim_046" descr="10_cost_sensitivity.png">    </p:cNvPr>
          <p:cNvPicPr>
            <a:picLocks noChangeAspect="1"/>
          </p:cNvPicPr>
          <p:nvPr/>
        </p:nvPicPr>
        <p:blipFill>
          <a:blip r:embed="rId1"/>
          <a:stretch>
            <a:fillRect/>
          </a:stretch>
        </p:blipFill>
        <p:spPr>
          <a:xfrm>
            <a:off x="548640" y="1280160"/>
            <a:ext cx="6853385" cy="2514600"/>
          </a:xfrm>
          <a:prstGeom prst="rect">
            <a:avLst/>
          </a:prstGeom>
        </p:spPr>
      </p:pic>
      <p:pic>
        <p:nvPicPr>
          <p:cNvPr id="5" name="anim_047" descr="10b_otp_sensitivity.png">    </p:cNvPr>
          <p:cNvPicPr>
            <a:picLocks noChangeAspect="1"/>
          </p:cNvPicPr>
          <p:nvPr/>
        </p:nvPicPr>
        <p:blipFill>
          <a:blip r:embed="rId2"/>
          <a:stretch>
            <a:fillRect/>
          </a:stretch>
        </p:blipFill>
        <p:spPr>
          <a:xfrm>
            <a:off x="548640" y="3840480"/>
            <a:ext cx="6917688" cy="2514600"/>
          </a:xfrm>
          <a:prstGeom prst="rect">
            <a:avLst/>
          </a:prstGeom>
        </p:spPr>
      </p:pic>
      <p:sp>
        <p:nvSpPr>
          <p:cNvPr id="6" name="anim_048"/>
          <p:cNvSpPr txBox="1"/>
          <p:nvPr/>
        </p:nvSpPr>
        <p:spPr>
          <a:xfrm>
            <a:off x="8412480" y="1371600"/>
            <a:ext cx="3291840" cy="4846320"/>
          </a:xfrm>
          <a:prstGeom prst="rect">
            <a:avLst/>
          </a:prstGeom>
          <a:noFill/>
          <a:ln/>
        </p:spPr>
        <p:txBody>
          <a:bodyPr wrap="square" lIns="0" tIns="0" rIns="0" bIns="0" rtlCol="0" anchor="t"/>
          <a:lstStyle/>
          <a:p>
            <a:pPr indent="0" marL="0">
              <a:buNone/>
            </a:pPr>
            <a:r>
              <a:rPr lang="en-US" sz="1400" b="1" dirty="0">
                <a:solidFill>
                  <a:schemeClr val="tx1"/>
                </a:solidFill>
                <a:latin typeface="Calibri" pitchFamily="34" charset="0"/>
                <a:ea typeface="Calibri" pitchFamily="34" charset="-122"/>
                <a:cs typeface="Calibri" pitchFamily="34" charset="-120"/>
              </a:rPr>
              <a:t>₹X × ₹Y: 25 scenarios</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Only four distinct thresholds appear; recall stays between 73% and 86%.</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chemeClr val="tx1"/>
                </a:solidFill>
                <a:latin typeface="Calibri" pitchFamily="34" charset="0"/>
                <a:ea typeface="Calibri" pitchFamily="34" charset="-122"/>
                <a:cs typeface="Calibri" pitchFamily="34" charset="-120"/>
              </a:rPr>
              <a:t>₹Z × OTP stop rate</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The block band stays at 60 payments in every case. A dearer or weaker OTP only shrinks the OTP band.</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E7A52"/>
                </a:solidFill>
                <a:latin typeface="Calibri" pitchFamily="34" charset="0"/>
                <a:ea typeface="Calibri" pitchFamily="34" charset="-122"/>
                <a:cs typeface="Calibri" pitchFamily="34" charset="-120"/>
              </a:rPr>
              <a:t>Official costs on the day?</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Type them into the app's Policy page: thresholds re-optimise in under a second.</a:t>
            </a:r>
            <a:endParaRPr lang="en-US" sz="14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Three bands: block 60, challenge 125, approve the rest</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PS7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graphicFrame>
        <p:nvGraphicFramePr>
          <p:cNvPr id="21" name="anim_049"/>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1371600"/>
                <a:gridCol w="1417320"/>
                <a:gridCol w="960120"/>
                <a:gridCol w="1280160"/>
                <a:gridCol w="1143000"/>
                <a:gridCol w="86868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Band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 (model score)</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Payments</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Fraud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Genuine customers</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Expected cost</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14284B"/>
                    </a:solidFill>
                  </a:tcPr>
                </a:tc>
              </a:tr>
              <a:tr h="566928">
                <a:tc>
                  <a:txBody>
                    <a:bodyPr/>
                    <a:lstStyle/>
                    <a:p>
                      <a:pPr indent="0" marL="0">
                        <a:buNone/>
                      </a:pPr>
                      <a:r>
                        <a:rPr lang="en-US" sz="1300" b="1" dirty="0">
                          <a:solidFill>
                            <a:srgbClr val="2E3B52"/>
                          </a:solidFill>
                          <a:latin typeface="Calibri" pitchFamily="34" charset="0"/>
                          <a:ea typeface="Calibri" pitchFamily="34" charset="-122"/>
                          <a:cs typeface="Calibri" pitchFamily="34" charset="-120"/>
                        </a:rPr>
                        <a:t>APPROVE</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E3F2EA"/>
                    </a:solidFill>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&lt; 0.0095</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56,561</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14 missed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pass</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₹70,000</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300" b="1" dirty="0">
                          <a:solidFill>
                            <a:srgbClr val="2E3B52"/>
                          </a:solidFill>
                          <a:latin typeface="Calibri" pitchFamily="34" charset="0"/>
                          <a:ea typeface="Calibri" pitchFamily="34" charset="-122"/>
                          <a:cs typeface="Calibri" pitchFamily="34" charset="-120"/>
                        </a:rPr>
                        <a:t>STEP-UP OTP</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AEFD2"/>
                    </a:solidFill>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0.0095 – 0.771</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6 challenged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119 challenged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₹10,875</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r h="566928">
                <a:tc>
                  <a:txBody>
                    <a:bodyPr/>
                    <a:lstStyle/>
                    <a:p>
                      <a:pPr indent="0" marL="0">
                        <a:buNone/>
                      </a:pPr>
                      <a:r>
                        <a:rPr lang="en-US" sz="1300" b="1" dirty="0">
                          <a:solidFill>
                            <a:srgbClr val="2E3B52"/>
                          </a:solidFill>
                          <a:latin typeface="Calibri" pitchFamily="34" charset="0"/>
                          <a:ea typeface="Calibri" pitchFamily="34" charset="-122"/>
                          <a:cs typeface="Calibri" pitchFamily="34" charset="-120"/>
                        </a:rPr>
                        <a:t>BLOCK</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solidFill>
                      <a:srgbClr val="F7E0D9"/>
                    </a:solidFill>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 0.771</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54 stopped (73%)</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6 blocked</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c>
                  <a:txBody>
                    <a:bodyPr/>
                    <a:lstStyle/>
                    <a:p>
                      <a:pPr indent="0" marL="0">
                        <a:buNone/>
                      </a:pPr>
                      <a:r>
                        <a:rPr lang="en-US" sz="1300" dirty="0">
                          <a:solidFill>
                            <a:srgbClr val="2E3B52"/>
                          </a:solidFill>
                          <a:latin typeface="Calibri" pitchFamily="34" charset="0"/>
                          <a:ea typeface="Calibri" pitchFamily="34" charset="-122"/>
                          <a:cs typeface="Calibri" pitchFamily="34" charset="-120"/>
                        </a:rPr>
                        <a:t>₹1,800</a:t>
                      </a:r>
                      <a:endParaRPr lang="en-US" sz="1300" dirty="0">
                        <a:latin typeface="Calibri" charset="0"/>
                        <a:ea typeface="Calibri" charset="0"/>
                        <a:cs typeface="Calibri" charset="0"/>
                      </a:endParaRPr>
                    </a:p>
                  </a:txBody>
                  <a:tcPr marL="91440" marR="91440" marT="45720" marB="45720" anchor="ctr">
                    <a:lnL w="9525" cap="flat" cmpd="sng" algn="ctr">
                      <a:solidFill>
                        <a:srgbClr val="D8DEE7"/>
                      </a:solidFill>
                      <a:prstDash val="solid"/>
                      <a:round/>
                      <a:headEnd type="none" w="med" len="med"/>
                      <a:tailEnd type="none" w="med" len="med"/>
                    </a:lnL>
                    <a:lnR w="9525" cap="flat" cmpd="sng" algn="ctr">
                      <a:solidFill>
                        <a:srgbClr val="D8DEE7"/>
                      </a:solidFill>
                      <a:prstDash val="solid"/>
                      <a:round/>
                      <a:headEnd type="none" w="med" len="med"/>
                      <a:tailEnd type="none" w="med" len="med"/>
                    </a:lnR>
                    <a:lnT w="9525" cap="flat" cmpd="sng" algn="ctr">
                      <a:solidFill>
                        <a:srgbClr val="D8DEE7"/>
                      </a:solidFill>
                      <a:prstDash val="solid"/>
                      <a:round/>
                      <a:headEnd type="none" w="med" len="med"/>
                      <a:tailEnd type="none" w="med" len="med"/>
                    </a:lnT>
                    <a:lnB w="9525" cap="flat" cmpd="sng" algn="ctr">
                      <a:solidFill>
                        <a:srgbClr val="D8DEE7"/>
                      </a:solidFill>
                      <a:prstDash val="solid"/>
                      <a:round/>
                      <a:headEnd type="none" w="med" len="med"/>
                      <a:tailEnd type="none" w="med" len="med"/>
                    </a:lnB>
                  </a:tcPr>
                </a:tc>
              </a:tr>
            </a:tbl>
          </a:graphicData>
        </a:graphic>
      </p:graphicFrame>
      <p:pic>
        <p:nvPicPr>
          <p:cNvPr id="5" name="anim_050" descr="11_risk_bands.png">    </p:cNvPr>
          <p:cNvPicPr>
            <a:picLocks noChangeAspect="1"/>
          </p:cNvPicPr>
          <p:nvPr/>
        </p:nvPicPr>
        <p:blipFill>
          <a:blip r:embed="rId1"/>
          <a:stretch>
            <a:fillRect/>
          </a:stretch>
        </p:blipFill>
        <p:spPr>
          <a:xfrm>
            <a:off x="548640" y="3886200"/>
            <a:ext cx="7040880" cy="2365110"/>
          </a:xfrm>
          <a:prstGeom prst="rect">
            <a:avLst/>
          </a:prstGeom>
        </p:spPr>
      </p:pic>
      <p:sp>
        <p:nvSpPr>
          <p:cNvPr id="6" name="anim_051"/>
          <p:cNvSpPr txBox="1"/>
          <p:nvPr/>
        </p:nvSpPr>
        <p:spPr>
          <a:xfrm>
            <a:off x="8001000" y="1417320"/>
            <a:ext cx="3657600" cy="1097280"/>
          </a:xfrm>
          <a:prstGeom prst="rect">
            <a:avLst/>
          </a:prstGeom>
          <a:noFill/>
          <a:ln/>
        </p:spPr>
        <p:txBody>
          <a:bodyPr wrap="square" lIns="0" tIns="0" rIns="0" bIns="0" rtlCol="0" anchor="t"/>
          <a:lstStyle/>
          <a:p>
            <a:pPr indent="0" marL="0">
              <a:buNone/>
            </a:pPr>
            <a:r>
              <a:rPr lang="en-US" sz="2800" b="1" dirty="0">
                <a:solidFill>
                  <a:srgbClr val="B03A22"/>
                </a:solidFill>
                <a:latin typeface="Cambria" pitchFamily="34" charset="0"/>
                <a:ea typeface="Cambria" pitchFamily="34" charset="-122"/>
                <a:cs typeface="Cambria" pitchFamily="34" charset="-120"/>
              </a:rPr>
              <a:t>90%</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blocked payments are fraud</a:t>
            </a:r>
            <a:endParaRPr lang="en-US" sz="1600" dirty="0"/>
          </a:p>
        </p:txBody>
      </p:sp>
      <p:sp>
        <p:nvSpPr>
          <p:cNvPr id="7" name="anim_052"/>
          <p:cNvSpPr txBox="1"/>
          <p:nvPr/>
        </p:nvSpPr>
        <p:spPr>
          <a:xfrm>
            <a:off x="8001000" y="2624328"/>
            <a:ext cx="3657600" cy="109728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81%</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fraud stopped or challenged</a:t>
            </a:r>
            <a:endParaRPr lang="en-US" sz="1600" dirty="0"/>
          </a:p>
        </p:txBody>
      </p:sp>
      <p:sp>
        <p:nvSpPr>
          <p:cNvPr id="8" name="anim_053"/>
          <p:cNvSpPr txBox="1"/>
          <p:nvPr/>
        </p:nvSpPr>
        <p:spPr>
          <a:xfrm>
            <a:off x="8001000" y="3831336"/>
            <a:ext cx="3657600" cy="109728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0.33%</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of customers see any friction</a:t>
            </a:r>
            <a:endParaRPr lang="en-US" sz="1600" dirty="0"/>
          </a:p>
        </p:txBody>
      </p:sp>
      <p:sp>
        <p:nvSpPr>
          <p:cNvPr id="9" name="anim_054"/>
          <p:cNvSpPr txBox="1"/>
          <p:nvPr/>
        </p:nvSpPr>
        <p:spPr>
          <a:xfrm>
            <a:off x="8001000" y="5038344"/>
            <a:ext cx="3657600" cy="1097280"/>
          </a:xfrm>
          <a:prstGeom prst="rect">
            <a:avLst/>
          </a:prstGeom>
          <a:noFill/>
          <a:ln/>
        </p:spPr>
        <p:txBody>
          <a:bodyPr wrap="square" lIns="0" tIns="0" rIns="0" bIns="0" rtlCol="0" anchor="t"/>
          <a:lstStyle/>
          <a:p>
            <a:pPr indent="0" marL="0">
              <a:buNone/>
            </a:pPr>
            <a:r>
              <a:rPr lang="en-US" sz="2800" b="1" dirty="0">
                <a:solidFill>
                  <a:schemeClr val="tx1"/>
                </a:solidFill>
                <a:latin typeface="Cambria" pitchFamily="34" charset="0"/>
                <a:ea typeface="Cambria" pitchFamily="34" charset="-122"/>
                <a:cs typeface="Cambria" pitchFamily="34" charset="-120"/>
              </a:rPr>
              <a:t>1.0 / 88.9</a:t>
            </a:r>
            <a:endParaRPr lang="en-US" sz="1600" dirty="0"/>
          </a:p>
          <a:p>
            <a:pPr indent="0" marL="0">
              <a:buNone/>
            </a:pPr>
            <a:r>
              <a:rPr lang="en-US" sz="1300" dirty="0">
                <a:solidFill>
                  <a:schemeClr val="accent5"/>
                </a:solidFill>
                <a:latin typeface="Calibri" pitchFamily="34" charset="0"/>
                <a:ea typeface="Calibri" pitchFamily="34" charset="-122"/>
                <a:cs typeface="Calibri" pitchFamily="34" charset="-120"/>
              </a:rPr>
              <a:t>calibrated risk (0–100) where OTP / block start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51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68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8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Expected cost falls from ₹3.70 L to ₹82,675 on unseen data</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PS7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graphicFrame>
        <p:nvGraphicFramePr>
          <p:cNvPr id="4" name="chart_cost" descr=""/>
          <p:cNvGraphicFramePr/>
          <p:nvPr/>
        </p:nvGraphicFramePr>
        <p:xfrm>
          <a:off x="548640" y="1371600"/>
          <a:ext cx="5669280" cy="4846320"/>
        </p:xfrm>
        <a:graphic xmlns:a="http://schemas.openxmlformats.org/drawingml/2006/main">
          <a:graphicData uri="http://schemas.openxmlformats.org/drawingml/2006/chart">
            <c:chart xmlns:c="http://schemas.openxmlformats.org/drawingml/2006/chart" r:id="rId1"/>
          </a:graphicData>
        </a:graphic>
      </p:graphicFrame>
      <p:pic>
        <p:nvPicPr>
          <p:cNvPr id="5" name="anim_055" descr="11b_cost_waterfall.png">    </p:cNvPr>
          <p:cNvPicPr>
            <a:picLocks noChangeAspect="1"/>
          </p:cNvPicPr>
          <p:nvPr/>
        </p:nvPicPr>
        <p:blipFill>
          <a:blip r:embed="rId2"/>
          <a:stretch>
            <a:fillRect/>
          </a:stretch>
        </p:blipFill>
        <p:spPr>
          <a:xfrm>
            <a:off x="6400800" y="1463040"/>
            <a:ext cx="5257800" cy="2193254"/>
          </a:xfrm>
          <a:prstGeom prst="rect">
            <a:avLst/>
          </a:prstGeom>
        </p:spPr>
      </p:pic>
      <p:sp>
        <p:nvSpPr>
          <p:cNvPr id="6" name="anim_056"/>
          <p:cNvSpPr/>
          <p:nvPr/>
        </p:nvSpPr>
        <p:spPr>
          <a:xfrm>
            <a:off x="6400800" y="4160520"/>
            <a:ext cx="5257800" cy="2011680"/>
          </a:xfrm>
          <a:prstGeom prst="roundRect">
            <a:avLst>
              <a:gd name="adj" fmla="val 3636"/>
            </a:avLst>
          </a:prstGeom>
          <a:solidFill>
            <a:srgbClr val="E7F2EC"/>
          </a:solidFill>
          <a:ln w="12700">
            <a:solidFill>
              <a:srgbClr val="E7F2EC"/>
            </a:solidFill>
            <a:prstDash val="solid"/>
          </a:ln>
        </p:spPr>
      </p:sp>
      <p:sp>
        <p:nvSpPr>
          <p:cNvPr id="7" name="Text 3"/>
          <p:cNvSpPr txBox="1"/>
          <p:nvPr/>
        </p:nvSpPr>
        <p:spPr>
          <a:xfrm>
            <a:off x="6629400" y="4297680"/>
            <a:ext cx="4846320" cy="1783080"/>
          </a:xfrm>
          <a:prstGeom prst="rect">
            <a:avLst/>
          </a:prstGeom>
          <a:noFill/>
          <a:ln/>
        </p:spPr>
        <p:txBody>
          <a:bodyPr wrap="square" lIns="0" tIns="0" rIns="0" bIns="0" rtlCol="0" anchor="t"/>
          <a:lstStyle/>
          <a:p>
            <a:pPr indent="0" marL="0">
              <a:buNone/>
            </a:pPr>
            <a:r>
              <a:rPr lang="en-US" sz="1500" b="1" dirty="0">
                <a:solidFill>
                  <a:srgbClr val="1E7A52"/>
                </a:solidFill>
                <a:latin typeface="Calibri" pitchFamily="34" charset="0"/>
                <a:ea typeface="Calibri" pitchFamily="34" charset="-122"/>
                <a:cs typeface="Calibri" pitchFamily="34" charset="-120"/>
              </a:rPr>
              <a:t>Projected (scenario estimate)</a:t>
            </a:r>
            <a:endParaRPr lang="en-US" sz="1500" dirty="0"/>
          </a:p>
          <a:p>
            <a:pPr indent="0" marL="0">
              <a:buNone/>
            </a:pPr>
            <a:r>
              <a:rPr lang="en-US" sz="2400" b="1" dirty="0">
                <a:solidFill>
                  <a:schemeClr val="tx1"/>
                </a:solidFill>
                <a:latin typeface="Cambria" pitchFamily="34" charset="0"/>
                <a:ea typeface="Cambria" pitchFamily="34" charset="-122"/>
                <a:cs typeface="Cambria" pitchFamily="34" charset="-120"/>
              </a:rPr>
              <a:t>≈ ₹50.63 L saved per million payments</a:t>
            </a:r>
            <a:endParaRPr lang="en-US" sz="1500" dirty="0"/>
          </a:p>
          <a:p>
            <a:pPr indent="0" marL="0">
              <a:buNone/>
            </a:pPr>
            <a:r>
              <a:rPr lang="en-US" sz="1300" dirty="0">
                <a:solidFill>
                  <a:schemeClr val="accent5"/>
                </a:solidFill>
                <a:latin typeface="Calibri" pitchFamily="34" charset="0"/>
                <a:ea typeface="Calibri" pitchFamily="34" charset="-122"/>
                <a:cs typeface="Calibri" pitchFamily="34" charset="-120"/>
              </a:rPr>
              <a:t>if future traffic looks like the test period and the assumed costs hold. Everything else on this slide is observed on held-out data.</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The model relies on the same behaviour signals the data showed</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PS8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pic>
        <p:nvPicPr>
          <p:cNvPr id="4" name="anim_057" descr="12_shap_beeswarm.png">    </p:cNvPr>
          <p:cNvPicPr>
            <a:picLocks noChangeAspect="1"/>
          </p:cNvPicPr>
          <p:nvPr/>
        </p:nvPicPr>
        <p:blipFill>
          <a:blip r:embed="rId1"/>
          <a:stretch>
            <a:fillRect/>
          </a:stretch>
        </p:blipFill>
        <p:spPr>
          <a:xfrm>
            <a:off x="548640" y="1280160"/>
            <a:ext cx="6035040" cy="4691956"/>
          </a:xfrm>
          <a:prstGeom prst="rect">
            <a:avLst/>
          </a:prstGeom>
        </p:spPr>
      </p:pic>
      <p:sp>
        <p:nvSpPr>
          <p:cNvPr id="5" name="anim_058"/>
          <p:cNvSpPr txBox="1"/>
          <p:nvPr/>
        </p:nvSpPr>
        <p:spPr>
          <a:xfrm>
            <a:off x="6949440" y="1417320"/>
            <a:ext cx="4663440" cy="484632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Low V14 → up to +6 log-odds of fraud</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the strongest single signal</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High V4, low V12 and V10 push towards fraud</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the same components that separated fraud in the EDA</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chemeClr val="tx1"/>
                </a:solidFill>
                <a:latin typeface="Calibri" pitchFamily="34" charset="0"/>
                <a:ea typeface="Calibri" pitchFamily="34" charset="-122"/>
                <a:cs typeface="Calibri" pitchFamily="34" charset="-120"/>
              </a:rPr>
              <a:t>Hour of day ranks 6th</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matching the night window</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E7A52"/>
                </a:solidFill>
                <a:latin typeface="Calibri" pitchFamily="34" charset="0"/>
                <a:ea typeface="Calibri" pitchFamily="34" charset="-122"/>
                <a:cs typeface="Calibri" pitchFamily="34" charset="-120"/>
              </a:rPr>
              <a:t>Every payment explained live</a:t>
            </a:r>
            <a:endParaRPr lang="en-US" sz="1500" dirty="0"/>
          </a:p>
          <a:p>
            <a:pPr indent="0" marL="0">
              <a:buNone/>
            </a:pPr>
            <a:r>
              <a:rPr lang="en-US" sz="1500" dirty="0">
                <a:solidFill>
                  <a:schemeClr val="tx2"/>
                </a:solidFill>
                <a:latin typeface="Calibri" pitchFamily="34" charset="0"/>
                <a:ea typeface="Calibri" pitchFamily="34" charset="-122"/>
                <a:cs typeface="Calibri" pitchFamily="34" charset="-120"/>
              </a:rPr>
              <a:t>The web app computes exact TreeSHAP in the browser. Associations, not causes.</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9144000" cy="109728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Three findings, three actions</a:t>
            </a:r>
            <a:endParaRPr lang="en-US" sz="4000" dirty="0"/>
          </a:p>
        </p:txBody>
      </p:sp>
      <p:sp>
        <p:nvSpPr>
          <p:cNvPr id="3" name="Text 0"/>
          <p:cNvSpPr/>
          <p:nvPr>
            <p:ph idx="101" type="body" hasCustomPrompt="1"/>
          </p:nvPr>
        </p:nvSpPr>
        <p:spPr>
          <a:xfrm>
            <a:off x="548640" y="3611880"/>
            <a:ext cx="9144000" cy="82296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Each tied to observed evidence; projections labelled</a:t>
            </a:r>
            <a:endParaRPr lang="en-US" sz="1800" dirty="0"/>
          </a:p>
          <a:p>
            <a:pPr indent="0" marL="0">
              <a:buNone/>
            </a:pPr>
            <a:r>
              <a:rPr lang="en-US" sz="1800" dirty="0">
                <a:solidFill>
                  <a:schemeClr val="accent6"/>
                </a:solidFill>
                <a:latin typeface="Calibri" pitchFamily="34" charset="0"/>
                <a:ea typeface="Calibri" pitchFamily="34" charset="-122"/>
                <a:cs typeface="Calibri" pitchFamily="34" charset="-120"/>
              </a:rPr>
              <a:t>Presented by M. Suman Srinivas (PS8)</a:t>
            </a:r>
            <a:endParaRPr lang="en-US" sz="18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23</a:t>
            </a:fld>
            <a:endParaRPr lang="en-US"/>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Three actions, each tied to observed evidence</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PS8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sp>
        <p:nvSpPr>
          <p:cNvPr id="4" name="anim_059"/>
          <p:cNvSpPr/>
          <p:nvPr/>
        </p:nvSpPr>
        <p:spPr>
          <a:xfrm>
            <a:off x="548640" y="1371600"/>
            <a:ext cx="3474720" cy="3931920"/>
          </a:xfrm>
          <a:prstGeom prst="roundRect">
            <a:avLst>
              <a:gd name="adj" fmla="val 2105"/>
            </a:avLst>
          </a:prstGeom>
          <a:solidFill>
            <a:srgbClr val="F2F4F7"/>
          </a:solidFill>
          <a:ln w="12700">
            <a:solidFill>
              <a:srgbClr val="F2F4F7"/>
            </a:solidFill>
            <a:prstDash val="solid"/>
          </a:ln>
        </p:spPr>
      </p:sp>
      <p:sp>
        <p:nvSpPr>
          <p:cNvPr id="5" name="Text 3"/>
          <p:cNvSpPr txBox="1"/>
          <p:nvPr/>
        </p:nvSpPr>
        <p:spPr>
          <a:xfrm>
            <a:off x="804672" y="1554480"/>
            <a:ext cx="2971800" cy="3657600"/>
          </a:xfrm>
          <a:prstGeom prst="rect">
            <a:avLst/>
          </a:prstGeom>
          <a:noFill/>
          <a:ln/>
        </p:spPr>
        <p:txBody>
          <a:bodyPr wrap="square" lIns="0" tIns="0" rIns="0" bIns="0" rtlCol="0" anchor="t"/>
          <a:lstStyle/>
          <a:p>
            <a:pPr indent="0" marL="0">
              <a:buNone/>
            </a:pPr>
            <a:r>
              <a:rPr lang="en-US" sz="1400" b="1" dirty="0">
                <a:solidFill>
                  <a:srgbClr val="1E7A52"/>
                </a:solidFill>
                <a:latin typeface="Calibri" pitchFamily="34" charset="0"/>
                <a:ea typeface="Calibri" pitchFamily="34" charset="-122"/>
                <a:cs typeface="Calibri" pitchFamily="34" charset="-120"/>
              </a:rPr>
              <a:t>1 · This quarter</a:t>
            </a:r>
            <a:endParaRPr lang="en-US" sz="1600" dirty="0"/>
          </a:p>
          <a:p>
            <a:pPr indent="0" marL="0">
              <a:buNone/>
            </a:pPr>
            <a:r>
              <a:rPr lang="en-US" sz="2000" b="1" dirty="0">
                <a:solidFill>
                  <a:schemeClr val="tx1"/>
                </a:solidFill>
                <a:latin typeface="Cambria" pitchFamily="34" charset="0"/>
                <a:ea typeface="Cambria" pitchFamily="34" charset="-122"/>
                <a:cs typeface="Cambria" pitchFamily="34" charset="-120"/>
              </a:rPr>
              <a:t>Retire 0.5; deploy the three-band rule</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Evidence (observed)</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₹82,675 vs ₹92,700 on test; blocks are 90% fraud</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Action</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Shadow-run 2–4 weeks, then go live; re-fit thresholds monthly from the cost curve</a:t>
            </a:r>
            <a:endParaRPr lang="en-US" sz="1600" dirty="0"/>
          </a:p>
        </p:txBody>
      </p:sp>
      <p:sp>
        <p:nvSpPr>
          <p:cNvPr id="6" name="anim_060"/>
          <p:cNvSpPr/>
          <p:nvPr/>
        </p:nvSpPr>
        <p:spPr>
          <a:xfrm>
            <a:off x="4297680" y="1371600"/>
            <a:ext cx="3474720" cy="3931920"/>
          </a:xfrm>
          <a:prstGeom prst="roundRect">
            <a:avLst>
              <a:gd name="adj" fmla="val 2105"/>
            </a:avLst>
          </a:prstGeom>
          <a:solidFill>
            <a:srgbClr val="F2F4F7"/>
          </a:solidFill>
          <a:ln w="12700">
            <a:solidFill>
              <a:srgbClr val="F2F4F7"/>
            </a:solidFill>
            <a:prstDash val="solid"/>
          </a:ln>
        </p:spPr>
      </p:sp>
      <p:sp>
        <p:nvSpPr>
          <p:cNvPr id="7" name="Text 5"/>
          <p:cNvSpPr txBox="1"/>
          <p:nvPr/>
        </p:nvSpPr>
        <p:spPr>
          <a:xfrm>
            <a:off x="4553712" y="1554480"/>
            <a:ext cx="2971800" cy="365760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2 · Before any UPI model</a:t>
            </a:r>
            <a:endParaRPr lang="en-US" sz="1600" dirty="0"/>
          </a:p>
          <a:p>
            <a:pPr indent="0" marL="0">
              <a:buNone/>
            </a:pPr>
            <a:r>
              <a:rPr lang="en-US" sz="2000" b="1" dirty="0">
                <a:solidFill>
                  <a:schemeClr val="tx1"/>
                </a:solidFill>
                <a:latin typeface="Cambria" pitchFamily="34" charset="0"/>
                <a:ea typeface="Cambria" pitchFamily="34" charset="-122"/>
                <a:cs typeface="Cambria" pitchFamily="34" charset="-120"/>
              </a:rPr>
              <a:t>Fix UPI data, then model it</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Evidence (observed)</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22 models at chance; no IDs; a leakage field</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Action</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Log account and device IDs and dated labels; COPOD watch-list meanwhile; random holdout</a:t>
            </a:r>
            <a:endParaRPr lang="en-US" sz="1600" dirty="0"/>
          </a:p>
        </p:txBody>
      </p:sp>
      <p:sp>
        <p:nvSpPr>
          <p:cNvPr id="8" name="anim_061"/>
          <p:cNvSpPr/>
          <p:nvPr/>
        </p:nvSpPr>
        <p:spPr>
          <a:xfrm>
            <a:off x="8046720" y="1371600"/>
            <a:ext cx="3474720" cy="3931920"/>
          </a:xfrm>
          <a:prstGeom prst="roundRect">
            <a:avLst>
              <a:gd name="adj" fmla="val 2105"/>
            </a:avLst>
          </a:prstGeom>
          <a:solidFill>
            <a:srgbClr val="F2F4F7"/>
          </a:solidFill>
          <a:ln w="12700">
            <a:solidFill>
              <a:srgbClr val="F2F4F7"/>
            </a:solidFill>
            <a:prstDash val="solid"/>
          </a:ln>
        </p:spPr>
      </p:sp>
      <p:sp>
        <p:nvSpPr>
          <p:cNvPr id="9" name="Text 7"/>
          <p:cNvSpPr txBox="1"/>
          <p:nvPr/>
        </p:nvSpPr>
        <p:spPr>
          <a:xfrm>
            <a:off x="8302752" y="1554480"/>
            <a:ext cx="2971800" cy="3657600"/>
          </a:xfrm>
          <a:prstGeom prst="rect">
            <a:avLst/>
          </a:prstGeom>
          <a:noFill/>
          <a:ln/>
        </p:spPr>
        <p:txBody>
          <a:bodyPr wrap="square" lIns="0" tIns="0" rIns="0" bIns="0" rtlCol="0" anchor="t"/>
          <a:lstStyle/>
          <a:p>
            <a:pPr indent="0" marL="0">
              <a:buNone/>
            </a:pPr>
            <a:r>
              <a:rPr lang="en-US" sz="1400" b="1" dirty="0">
                <a:solidFill>
                  <a:srgbClr val="9A6B00"/>
                </a:solidFill>
                <a:latin typeface="Calibri" pitchFamily="34" charset="0"/>
                <a:ea typeface="Calibri" pitchFamily="34" charset="-122"/>
                <a:cs typeface="Calibri" pitchFamily="34" charset="-120"/>
              </a:rPr>
              <a:t>3 · Next sprint</a:t>
            </a:r>
            <a:endParaRPr lang="en-US" sz="1600" dirty="0"/>
          </a:p>
          <a:p>
            <a:pPr indent="0" marL="0">
              <a:buNone/>
            </a:pPr>
            <a:r>
              <a:rPr lang="en-US" sz="2000" b="1" dirty="0">
                <a:solidFill>
                  <a:schemeClr val="tx1"/>
                </a:solidFill>
                <a:latin typeface="Cambria" pitchFamily="34" charset="0"/>
                <a:ea typeface="Cambria" pitchFamily="34" charset="-122"/>
                <a:cs typeface="Cambria" pitchFamily="34" charset="-120"/>
              </a:rPr>
              <a:t>Target card testing and bursts</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Evidence (observed)</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 1.51 amounts hold 37% of fraud; 01–05h = 23% of fraud in 5.7% of traffic</a:t>
            </a:r>
            <a:endParaRPr lang="en-US" sz="1600" dirty="0"/>
          </a:p>
          <a:p>
            <a:pPr indent="0" marL="0">
              <a:buNone/>
            </a:pPr>
            <a:r>
              <a:rPr lang="en-US" sz="800" dirty="0">
                <a:solidFill>
                  <a:schemeClr val="tx2"/>
                </a:solidFill>
                <a:latin typeface="Calibri" pitchFamily="34" charset="0"/>
                <a:ea typeface="Calibri" pitchFamily="34" charset="-122"/>
                <a:cs typeface="Calibri" pitchFamily="34" charset="-120"/>
              </a:rPr>
              <a:t> </a:t>
            </a:r>
            <a:endParaRPr lang="en-US" sz="1600" dirty="0"/>
          </a:p>
          <a:p>
            <a:pPr indent="0" marL="0">
              <a:buNone/>
            </a:pPr>
            <a:r>
              <a:rPr lang="en-US" sz="1300" b="1" dirty="0">
                <a:solidFill>
                  <a:schemeClr val="accent5"/>
                </a:solidFill>
                <a:latin typeface="Calibri" pitchFamily="34" charset="0"/>
                <a:ea typeface="Calibri" pitchFamily="34" charset="-122"/>
                <a:cs typeface="Calibri" pitchFamily="34" charset="-120"/>
              </a:rPr>
              <a:t>Action</a:t>
            </a:r>
            <a:endParaRPr lang="en-US" sz="1600" dirty="0"/>
          </a:p>
          <a:p>
            <a:pPr indent="0" marL="0">
              <a:buNone/>
            </a:pPr>
            <a:r>
              <a:rPr lang="en-US" sz="1400" dirty="0">
                <a:solidFill>
                  <a:schemeClr val="tx2"/>
                </a:solidFill>
                <a:latin typeface="Calibri" pitchFamily="34" charset="0"/>
                <a:ea typeface="Calibri" pitchFamily="34" charset="-122"/>
                <a:cs typeface="Calibri" pitchFamily="34" charset="-120"/>
              </a:rPr>
              <a:t>Velocity limits on micro-authorisations; burst alerts; night staffing; A/B test first</a:t>
            </a:r>
            <a:endParaRPr lang="en-US" sz="16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Live demo: FraudGuard on the web, in both modes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Demo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pic>
        <p:nvPicPr>
          <p:cNvPr id="4" name="anim_062" descr="FraudGuard web app scoring a credit-card payment">    </p:cNvPr>
          <p:cNvPicPr>
            <a:picLocks noChangeAspect="1"/>
          </p:cNvPicPr>
          <p:nvPr/>
        </p:nvPicPr>
        <p:blipFill>
          <a:blip r:embed="rId1"/>
          <a:stretch>
            <a:fillRect/>
          </a:stretch>
        </p:blipFill>
        <p:spPr>
          <a:xfrm>
            <a:off x="548640" y="1325880"/>
            <a:ext cx="7223760" cy="4514850"/>
          </a:xfrm>
          <a:prstGeom prst="rect">
            <a:avLst/>
          </a:prstGeom>
        </p:spPr>
      </p:pic>
      <p:pic>
        <p:nvPicPr>
          <p:cNvPr id="5" name="anim_063" descr="UPI mode with the no-signal policy">    </p:cNvPr>
          <p:cNvPicPr>
            <a:picLocks noChangeAspect="1"/>
          </p:cNvPicPr>
          <p:nvPr/>
        </p:nvPicPr>
        <p:blipFill>
          <a:blip r:embed="rId2"/>
          <a:stretch>
            <a:fillRect/>
          </a:stretch>
        </p:blipFill>
        <p:spPr>
          <a:xfrm>
            <a:off x="8001000" y="1325880"/>
            <a:ext cx="3657600" cy="2286000"/>
          </a:xfrm>
          <a:prstGeom prst="rect">
            <a:avLst/>
          </a:prstGeom>
        </p:spPr>
      </p:pic>
      <p:pic>
        <p:nvPicPr>
          <p:cNvPr id="6" name="anim_064" descr="Policy page re-optimising thresholds">    </p:cNvPr>
          <p:cNvPicPr>
            <a:picLocks noChangeAspect="1"/>
          </p:cNvPicPr>
          <p:nvPr/>
        </p:nvPicPr>
        <p:blipFill>
          <a:blip r:embed="rId3"/>
          <a:stretch>
            <a:fillRect/>
          </a:stretch>
        </p:blipFill>
        <p:spPr>
          <a:xfrm>
            <a:off x="8001000" y="3703320"/>
            <a:ext cx="3657600" cy="2286000"/>
          </a:xfrm>
          <a:prstGeom prst="rect">
            <a:avLst/>
          </a:prstGeom>
        </p:spPr>
      </p:pic>
      <p:sp>
        <p:nvSpPr>
          <p:cNvPr id="7" name="Text 2"/>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300" b="1" u="sng" dirty="0">
                <a:solidFill>
                  <a:srgbClr val="1428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calibofraudguard.netlify.app</a:t>
            </a:r>
            <a:pPr indent="0" marL="0">
              <a:buNone/>
            </a:pPr>
            <a:r>
              <a:rPr lang="en-US" sz="1300" dirty="0">
                <a:solidFill>
                  <a:schemeClr val="accent5"/>
                </a:solidFill>
                <a:latin typeface="Calibri" pitchFamily="34" charset="0"/>
                <a:ea typeface="Calibri" pitchFamily="34" charset="-122"/>
                <a:cs typeface="Calibri" pitchFamily="34" charset="-120"/>
              </a:rPr>
              <a:t>  ·  sign in · Score · Batch CSV · Policy (official ₹ costs) · Evidence · History and audit log</a:t>
            </a:r>
            <a:endParaRPr lang="en-US" sz="13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t"/>
          <a:lstStyle/>
          <a:p>
            <a:pPr algn="l" indent="0" marL="0">
              <a:buNone/>
            </a:pPr>
            <a:r>
              <a:rPr lang="en-US" sz="3000" b="1" dirty="0">
                <a:solidFill>
                  <a:schemeClr val="tx1"/>
                </a:solidFill>
                <a:latin typeface="Cambria" pitchFamily="34" charset="0"/>
                <a:ea typeface="Cambria" pitchFamily="34" charset="-122"/>
                <a:cs typeface="Cambria" pitchFamily="34" charset="-120"/>
              </a:rPr>
              <a:t>Special points and limitations</a:t>
            </a:r>
            <a:endParaRPr lang="en-US" sz="3000" dirty="0"/>
          </a:p>
        </p:txBody>
      </p:sp>
      <p:sp>
        <p:nvSpPr>
          <p:cNvPr id="3" name="Text 1"/>
          <p:cNvSpPr txBox="1"/>
          <p:nvPr/>
        </p:nvSpPr>
        <p:spPr>
          <a:xfrm>
            <a:off x="6430975" y="6446520"/>
            <a:ext cx="4663440" cy="274320"/>
          </a:xfrm>
          <a:prstGeom prst="rect">
            <a:avLst/>
          </a:prstGeom>
          <a:noFill/>
          <a:ln/>
        </p:spPr>
        <p:txBody>
          <a:bodyPr wrap="square" lIns="0" tIns="0" rIns="0" bIns="0" rtlCol="0" anchor="ctr"/>
          <a:lstStyle/>
          <a:p>
            <a:pPr algn="r" indent="0" marL="0">
              <a:buNone/>
            </a:pPr>
            <a:r>
              <a:rPr lang="en-US" sz="1100" dirty="0">
                <a:solidFill>
                  <a:srgbClr val="5B6B85"/>
                </a:solidFill>
                <a:latin typeface="Calibri" pitchFamily="34" charset="0"/>
                <a:ea typeface="Calibri" pitchFamily="34" charset="-122"/>
                <a:cs typeface="Calibri" pitchFamily="34" charset="-120"/>
              </a:rPr>
              <a:t>PS8  ·  </a:t>
            </a:r>
            <a:pPr algn="r" indent="0" marL="0">
              <a:buNone/>
            </a:pPr>
            <a:r>
              <a:rPr lang="en-US" sz="1100" b="1" dirty="0">
                <a:solidFill>
                  <a:srgbClr val="14284B"/>
                </a:solidFill>
                <a:latin typeface="Calibri" pitchFamily="34" charset="0"/>
                <a:ea typeface="Calibri" pitchFamily="34" charset="-122"/>
                <a:cs typeface="Calibri" pitchFamily="34" charset="-120"/>
              </a:rPr>
              <a:t>M. Suman Srinivas</a:t>
            </a:r>
            <a:endParaRPr lang="en-US" sz="1100" dirty="0"/>
          </a:p>
        </p:txBody>
      </p:sp>
      <p:sp>
        <p:nvSpPr>
          <p:cNvPr id="4" name="anim_065"/>
          <p:cNvSpPr/>
          <p:nvPr/>
        </p:nvSpPr>
        <p:spPr>
          <a:xfrm>
            <a:off x="548640" y="1371600"/>
            <a:ext cx="3474720" cy="3657600"/>
          </a:xfrm>
          <a:prstGeom prst="roundRect">
            <a:avLst>
              <a:gd name="adj" fmla="val 2105"/>
            </a:avLst>
          </a:prstGeom>
          <a:solidFill>
            <a:srgbClr val="F2F4F7"/>
          </a:solidFill>
          <a:ln w="12700">
            <a:solidFill>
              <a:srgbClr val="F2F4F7"/>
            </a:solidFill>
            <a:prstDash val="solid"/>
          </a:ln>
        </p:spPr>
      </p:sp>
      <p:sp>
        <p:nvSpPr>
          <p:cNvPr id="5" name="Text 3"/>
          <p:cNvSpPr txBox="1"/>
          <p:nvPr/>
        </p:nvSpPr>
        <p:spPr>
          <a:xfrm>
            <a:off x="804672" y="1554480"/>
            <a:ext cx="2971800" cy="33832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Confidentiality</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Card features are PCA-anonymised by the data owner</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UPI file has no personal identifiers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App scores in the browser; saves are row-level-secured per user</a:t>
            </a:r>
            <a:endParaRPr lang="en-US" sz="1500" dirty="0"/>
          </a:p>
        </p:txBody>
      </p:sp>
      <p:sp>
        <p:nvSpPr>
          <p:cNvPr id="6" name="anim_066"/>
          <p:cNvSpPr/>
          <p:nvPr/>
        </p:nvSpPr>
        <p:spPr>
          <a:xfrm>
            <a:off x="4297680" y="1371600"/>
            <a:ext cx="3474720" cy="3657600"/>
          </a:xfrm>
          <a:prstGeom prst="roundRect">
            <a:avLst>
              <a:gd name="adj" fmla="val 2105"/>
            </a:avLst>
          </a:prstGeom>
          <a:solidFill>
            <a:srgbClr val="F2F4F7"/>
          </a:solidFill>
          <a:ln w="12700">
            <a:solidFill>
              <a:srgbClr val="F2F4F7"/>
            </a:solidFill>
            <a:prstDash val="solid"/>
          </a:ln>
        </p:spPr>
      </p:sp>
      <p:sp>
        <p:nvSpPr>
          <p:cNvPr id="7" name="Text 5"/>
          <p:cNvSpPr txBox="1"/>
          <p:nvPr/>
        </p:nvSpPr>
        <p:spPr>
          <a:xfrm>
            <a:off x="4553712" y="1554480"/>
            <a:ext cx="2971800" cy="33832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Compliance for rollout</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DPDP Act 2023: consent, purpose, retention</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RBI fraud-reporting and customer-liability rules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An appeal path for blocked customers</a:t>
            </a:r>
            <a:endParaRPr lang="en-US" sz="1500" dirty="0"/>
          </a:p>
        </p:txBody>
      </p:sp>
      <p:sp>
        <p:nvSpPr>
          <p:cNvPr id="8" name="anim_067"/>
          <p:cNvSpPr/>
          <p:nvPr/>
        </p:nvSpPr>
        <p:spPr>
          <a:xfrm>
            <a:off x="8046720" y="1371600"/>
            <a:ext cx="3474720" cy="3657600"/>
          </a:xfrm>
          <a:prstGeom prst="roundRect">
            <a:avLst>
              <a:gd name="adj" fmla="val 2105"/>
            </a:avLst>
          </a:prstGeom>
          <a:solidFill>
            <a:srgbClr val="F2F4F7"/>
          </a:solidFill>
          <a:ln w="12700">
            <a:solidFill>
              <a:srgbClr val="F2F4F7"/>
            </a:solidFill>
            <a:prstDash val="solid"/>
          </a:ln>
        </p:spPr>
      </p:sp>
      <p:sp>
        <p:nvSpPr>
          <p:cNvPr id="9" name="Text 7"/>
          <p:cNvSpPr txBox="1"/>
          <p:nvPr/>
        </p:nvSpPr>
        <p:spPr>
          <a:xfrm>
            <a:off x="8302752" y="1554480"/>
            <a:ext cx="2971800" cy="338328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Limitations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~2 days of 2013 card data; 74 test frauds → wide CIs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Amount currency not stated; costs per event</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Assumed ₹ costs → savings are scenarios</a:t>
            </a:r>
            <a:endParaRPr lang="en-US" sz="1500" dirty="0"/>
          </a:p>
          <a:p>
            <a:pPr marL="342900" indent="-342900">
              <a:spcAft>
                <a:spcPts val="800"/>
              </a:spcAft>
              <a:buSzPct val="100000"/>
              <a:buChar char="•"/>
            </a:pPr>
            <a:r>
              <a:rPr lang="en-US" sz="1500" dirty="0">
                <a:solidFill>
                  <a:schemeClr val="tx2"/>
                </a:solidFill>
                <a:latin typeface="Calibri" pitchFamily="34" charset="0"/>
                <a:ea typeface="Calibri" pitchFamily="34" charset="-122"/>
                <a:cs typeface="Calibri" pitchFamily="34" charset="-120"/>
              </a:rPr>
              <a:t>Blocked fraud is never confirmed → keep a random holdout</a:t>
            </a:r>
            <a:endParaRPr lang="en-US" sz="1500" dirty="0"/>
          </a:p>
        </p:txBody>
      </p:sp>
      <p:sp>
        <p:nvSpPr>
          <p:cNvPr id="25" name="Slide Number Placeholder 0"/>
          <p:cNvSpPr>
            <a:spLocks noGrp="1"/>
          </p:cNvSpPr>
          <p:nvPr>
            <p:ph type="sldNum" sz="quarter" idx="4294967295"/>
          </p:nvPr>
        </p:nvSpPr>
        <p:spPr>
          <a:xfrm>
            <a:off x="11277295"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50"/>
                                        <p:tgtEl>
                                          <p:spTgt spid="6"/>
                                        </p:tgtEl>
                                      </p:cBhvr>
                                    </p:animEffect>
                                  </p:childTnLst>
                                </p:cTn>
                              </p:par>
                              <p:par>
                                <p:cTn id="11" presetID="10" presetClass="entr" presetSubtype="0" fill="hold" grpId="0" nodeType="withEffect">
                                  <p:stCondLst>
                                    <p:cond delay="34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877824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From 99.87% accuracy to rupees saved</a:t>
            </a:r>
            <a:endParaRPr lang="en-US" sz="4400" dirty="0"/>
          </a:p>
        </p:txBody>
      </p:sp>
      <p:sp>
        <p:nvSpPr>
          <p:cNvPr id="3" name="Text 0"/>
          <p:cNvSpPr/>
          <p:nvPr>
            <p:ph idx="101" type="body" hasCustomPrompt="1"/>
          </p:nvPr>
        </p:nvSpPr>
        <p:spPr>
          <a:xfrm>
            <a:off x="548640" y="3886200"/>
            <a:ext cx="8778240" cy="1097280"/>
          </a:xfrm>
          <a:prstGeom prst="rect">
            <a:avLst/>
          </a:prstGeom>
          <a:noFill/>
          <a:ln/>
        </p:spPr>
        <p:txBody>
          <a:bodyPr wrap="square" lIns="0" tIns="0" rIns="0" bIns="0" rtlCol="0" anchor="t"/>
          <a:lstStyle/>
          <a:p>
            <a:pPr indent="0" marL="0">
              <a:buNone/>
            </a:pPr>
            <a:r>
              <a:rPr lang="en-US" sz="1800" dirty="0">
                <a:solidFill>
                  <a:schemeClr val="accent6"/>
                </a:solidFill>
                <a:latin typeface="Calibri" pitchFamily="34" charset="0"/>
                <a:ea typeface="Calibri" pitchFamily="34" charset="-122"/>
                <a:cs typeface="Calibri" pitchFamily="34" charset="-120"/>
              </a:rPr>
              <a:t>Recall, precision and PR-AUC instead of accuracy · a cost-based threshold instead of 0.5 · three bands instead of one score · a label-free watch-list for unseen fraud · a fair comparison of 22 models · three prioritised actions</a:t>
            </a:r>
            <a:endParaRPr lang="en-US" sz="1800" dirty="0"/>
          </a:p>
        </p:txBody>
      </p:sp>
      <p:sp>
        <p:nvSpPr>
          <p:cNvPr id="4" name="anim_068"/>
          <p:cNvSpPr txBox="1"/>
          <p:nvPr/>
        </p:nvSpPr>
        <p:spPr>
          <a:xfrm>
            <a:off x="548640" y="5577840"/>
            <a:ext cx="2743200" cy="548640"/>
          </a:xfrm>
          <a:prstGeom prst="rect">
            <a:avLst/>
          </a:prstGeom>
          <a:noFill/>
          <a:ln/>
        </p:spPr>
        <p:txBody>
          <a:bodyPr wrap="square" lIns="0" tIns="0" rIns="0" bIns="0" rtlCol="0" anchor="t"/>
          <a:lstStyle/>
          <a:p>
            <a:pPr indent="0" marL="0">
              <a:buNone/>
            </a:pPr>
            <a:r>
              <a:rPr lang="en-US" sz="2800" b="1" dirty="0">
                <a:solidFill>
                  <a:schemeClr val="accent1"/>
                </a:solidFill>
                <a:latin typeface="Cambria" pitchFamily="34" charset="0"/>
                <a:ea typeface="Cambria" pitchFamily="34" charset="-122"/>
                <a:cs typeface="Cambria" pitchFamily="34" charset="-120"/>
              </a:rPr>
              <a:t>Questions?</a:t>
            </a:r>
            <a:endParaRPr lang="en-US" sz="2800" dirty="0"/>
          </a:p>
        </p:txBody>
      </p:sp>
      <p:sp>
        <p:nvSpPr>
          <p:cNvPr id="5" name="anim_069"/>
          <p:cNvSpPr txBox="1"/>
          <p:nvPr/>
        </p:nvSpPr>
        <p:spPr>
          <a:xfrm>
            <a:off x="5699455" y="5349240"/>
            <a:ext cx="5943600" cy="1005840"/>
          </a:xfrm>
          <a:prstGeom prst="rect">
            <a:avLst/>
          </a:prstGeom>
          <a:noFill/>
          <a:ln/>
        </p:spPr>
        <p:txBody>
          <a:bodyPr wrap="square" lIns="0" tIns="0" rIns="0" bIns="0" rtlCol="0" anchor="t"/>
          <a:lstStyle/>
          <a:p>
            <a:pPr algn="r" indent="0" marL="0">
              <a:buNone/>
            </a:pPr>
            <a:r>
              <a:rPr lang="en-US" sz="1400" b="1" dirty="0">
                <a:solidFill>
                  <a:srgbClr val="FFFFFF"/>
                </a:solidFill>
                <a:latin typeface="Calibri" pitchFamily="34" charset="0"/>
                <a:ea typeface="Calibri" pitchFamily="34" charset="-122"/>
                <a:cs typeface="Calibri" pitchFamily="34" charset="-120"/>
              </a:rPr>
              <a:t>Group 8 · Matrix Mechanics</a:t>
            </a:r>
            <a:endParaRPr lang="en-US" sz="1400" dirty="0"/>
          </a:p>
          <a:p>
            <a:pPr algn="r" indent="0" marL="0">
              <a:buNone/>
            </a:pPr>
            <a:r>
              <a:rPr lang="en-US" sz="1400" dirty="0">
                <a:solidFill>
                  <a:schemeClr val="accent6"/>
                </a:solidFill>
                <a:latin typeface="Calibri" pitchFamily="34" charset="0"/>
                <a:ea typeface="Calibri" pitchFamily="34" charset="-122"/>
                <a:cs typeface="Calibri" pitchFamily="34" charset="-120"/>
              </a:rPr>
              <a:t>N. Varshitha · M. Kumara Swamy · V. Naishadh · M. Suman Srinivas</a:t>
            </a:r>
            <a:endParaRPr lang="en-US" sz="1400" dirty="0"/>
          </a:p>
          <a:p>
            <a:pPr algn="r" indent="0" marL="0">
              <a:buNone/>
            </a:pPr>
            <a:r>
              <a:rPr lang="en-US" sz="1400" u="sng" dirty="0">
                <a:solidFill>
                  <a:schemeClr val="accent1"/>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calibofraudguard.netlify.app</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17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raudGuard">
  <a:themeElements>
    <a:clrScheme name="FraudGuard">
      <a:dk1>
        <a:srgbClr val="14284B"/>
      </a:dk1>
      <a:lt1>
        <a:srgbClr val="FFFFFF"/>
      </a:lt1>
      <a:dk2>
        <a:srgbClr val="2E3B52"/>
      </a:dk2>
      <a:lt2>
        <a:srgbClr val="F2F4F7"/>
      </a:lt2>
      <a:accent1>
        <a:srgbClr val="D8A21B"/>
      </a:accent1>
      <a:accent2>
        <a:srgbClr val="1E7A52"/>
      </a:accent2>
      <a:accent3>
        <a:srgbClr val="9A6B00"/>
      </a:accent3>
      <a:accent4>
        <a:srgbClr val="B03A22"/>
      </a:accent4>
      <a:accent5>
        <a:srgbClr val="5B6B85"/>
      </a:accent5>
      <a:accent6>
        <a:srgbClr val="8FA3C2"/>
      </a:accent6>
      <a:hlink>
        <a:srgbClr val="2F6FEB"/>
      </a:hlink>
      <a:folHlink>
        <a:srgbClr val="6B4FBB"/>
      </a:folHlink>
    </a:clrScheme>
    <a:fontScheme name="Fraud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KLU + Path-3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FraudGuard — payment fraud decisions</dc:title>
  <dc:subject>PptxGenJS Presentation</dc:subject>
  <dc:creator>Group 8 · Matrix Mechanics</dc:creator>
  <cp:lastModifiedBy>Group 8 · Matrix Mechanics</cp:lastModifiedBy>
  <cp:revision>1</cp:revision>
  <dcterms:created xsi:type="dcterms:W3CDTF">2026-10-31T12:21:20Z</dcterms:created>
  <dcterms:modified xsi:type="dcterms:W3CDTF">2026-10-31T12:21:20Z</dcterms:modified>
</cp:coreProperties>
</file>